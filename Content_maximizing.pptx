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6" r:id="rId3"/>
    <p:sldId id="257"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 id="273" r:id="rId19"/>
    <p:sldId id="275"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4E4F2E-CF49-4D10-99E6-B6A2BE55ABD4}" v="308" dt="2026-04-06T16:24:19.9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13" autoAdjust="0"/>
    <p:restoredTop sz="94660"/>
  </p:normalViewPr>
  <p:slideViewPr>
    <p:cSldViewPr snapToGrid="0">
      <p:cViewPr varScale="1">
        <p:scale>
          <a:sx n="78" d="100"/>
          <a:sy n="78" d="100"/>
        </p:scale>
        <p:origin x="1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1C8A8-CB8D-DA1F-04BF-4086A8C973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1FF3D85-169F-52B4-2B94-E42DCF5478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BC96D45-091E-1E07-0D9C-90745219162B}"/>
              </a:ext>
            </a:extLst>
          </p:cNvPr>
          <p:cNvSpPr>
            <a:spLocks noGrp="1"/>
          </p:cNvSpPr>
          <p:nvPr>
            <p:ph type="dt" sz="half" idx="10"/>
          </p:nvPr>
        </p:nvSpPr>
        <p:spPr/>
        <p:txBody>
          <a:bodyPr/>
          <a:lstStyle/>
          <a:p>
            <a:fld id="{F69A82A8-60E4-456A-A46E-E965B002866D}" type="datetimeFigureOut">
              <a:rPr lang="en-IN" smtClean="0"/>
              <a:t>06-04-2026</a:t>
            </a:fld>
            <a:endParaRPr lang="en-IN"/>
          </a:p>
        </p:txBody>
      </p:sp>
      <p:sp>
        <p:nvSpPr>
          <p:cNvPr id="5" name="Footer Placeholder 4">
            <a:extLst>
              <a:ext uri="{FF2B5EF4-FFF2-40B4-BE49-F238E27FC236}">
                <a16:creationId xmlns:a16="http://schemas.microsoft.com/office/drawing/2014/main" id="{60F49B1B-9C8C-553B-6D27-EBD05AAF6C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F5BA9E-BF2C-9474-BE33-7EB43339C0E0}"/>
              </a:ext>
            </a:extLst>
          </p:cNvPr>
          <p:cNvSpPr>
            <a:spLocks noGrp="1"/>
          </p:cNvSpPr>
          <p:nvPr>
            <p:ph type="sldNum" sz="quarter" idx="12"/>
          </p:nvPr>
        </p:nvSpPr>
        <p:spPr/>
        <p:txBody>
          <a:bodyPr/>
          <a:lstStyle/>
          <a:p>
            <a:fld id="{1A209DE5-72B1-4C4E-A450-179FF475A3F3}" type="slidenum">
              <a:rPr lang="en-IN" smtClean="0"/>
              <a:t>‹#›</a:t>
            </a:fld>
            <a:endParaRPr lang="en-IN"/>
          </a:p>
        </p:txBody>
      </p:sp>
    </p:spTree>
    <p:extLst>
      <p:ext uri="{BB962C8B-B14F-4D97-AF65-F5344CB8AC3E}">
        <p14:creationId xmlns:p14="http://schemas.microsoft.com/office/powerpoint/2010/main" val="3977809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F6554-E14B-51B5-7EDE-73E8FE97BC4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7B2D55-83C9-E8FC-BA86-A99E56FC6F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264670-B789-F9D5-7D45-CF7A1F165CED}"/>
              </a:ext>
            </a:extLst>
          </p:cNvPr>
          <p:cNvSpPr>
            <a:spLocks noGrp="1"/>
          </p:cNvSpPr>
          <p:nvPr>
            <p:ph type="dt" sz="half" idx="10"/>
          </p:nvPr>
        </p:nvSpPr>
        <p:spPr/>
        <p:txBody>
          <a:bodyPr/>
          <a:lstStyle/>
          <a:p>
            <a:fld id="{F69A82A8-60E4-456A-A46E-E965B002866D}" type="datetimeFigureOut">
              <a:rPr lang="en-IN" smtClean="0"/>
              <a:t>06-04-2026</a:t>
            </a:fld>
            <a:endParaRPr lang="en-IN"/>
          </a:p>
        </p:txBody>
      </p:sp>
      <p:sp>
        <p:nvSpPr>
          <p:cNvPr id="5" name="Footer Placeholder 4">
            <a:extLst>
              <a:ext uri="{FF2B5EF4-FFF2-40B4-BE49-F238E27FC236}">
                <a16:creationId xmlns:a16="http://schemas.microsoft.com/office/drawing/2014/main" id="{2E2A108C-04F2-10F8-7DC5-5BC18727F3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9131BD-4FCA-7122-0BF3-FEB7F02DBD99}"/>
              </a:ext>
            </a:extLst>
          </p:cNvPr>
          <p:cNvSpPr>
            <a:spLocks noGrp="1"/>
          </p:cNvSpPr>
          <p:nvPr>
            <p:ph type="sldNum" sz="quarter" idx="12"/>
          </p:nvPr>
        </p:nvSpPr>
        <p:spPr/>
        <p:txBody>
          <a:bodyPr/>
          <a:lstStyle/>
          <a:p>
            <a:fld id="{1A209DE5-72B1-4C4E-A450-179FF475A3F3}" type="slidenum">
              <a:rPr lang="en-IN" smtClean="0"/>
              <a:t>‹#›</a:t>
            </a:fld>
            <a:endParaRPr lang="en-IN"/>
          </a:p>
        </p:txBody>
      </p:sp>
    </p:spTree>
    <p:extLst>
      <p:ext uri="{BB962C8B-B14F-4D97-AF65-F5344CB8AC3E}">
        <p14:creationId xmlns:p14="http://schemas.microsoft.com/office/powerpoint/2010/main" val="1307490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9DF46-39BD-E6AF-F214-D8264A6D44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36AD73-102F-8CC3-525F-D244DC662E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4C3445-563C-FA04-C619-71422AC75907}"/>
              </a:ext>
            </a:extLst>
          </p:cNvPr>
          <p:cNvSpPr>
            <a:spLocks noGrp="1"/>
          </p:cNvSpPr>
          <p:nvPr>
            <p:ph type="dt" sz="half" idx="10"/>
          </p:nvPr>
        </p:nvSpPr>
        <p:spPr/>
        <p:txBody>
          <a:bodyPr/>
          <a:lstStyle/>
          <a:p>
            <a:fld id="{F69A82A8-60E4-456A-A46E-E965B002866D}" type="datetimeFigureOut">
              <a:rPr lang="en-IN" smtClean="0"/>
              <a:t>06-04-2026</a:t>
            </a:fld>
            <a:endParaRPr lang="en-IN"/>
          </a:p>
        </p:txBody>
      </p:sp>
      <p:sp>
        <p:nvSpPr>
          <p:cNvPr id="5" name="Footer Placeholder 4">
            <a:extLst>
              <a:ext uri="{FF2B5EF4-FFF2-40B4-BE49-F238E27FC236}">
                <a16:creationId xmlns:a16="http://schemas.microsoft.com/office/drawing/2014/main" id="{6E47C5C2-6A1C-87A4-A842-26E1502CBE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7DD1F3-7F07-11F2-E4A6-5367EFB5B432}"/>
              </a:ext>
            </a:extLst>
          </p:cNvPr>
          <p:cNvSpPr>
            <a:spLocks noGrp="1"/>
          </p:cNvSpPr>
          <p:nvPr>
            <p:ph type="sldNum" sz="quarter" idx="12"/>
          </p:nvPr>
        </p:nvSpPr>
        <p:spPr/>
        <p:txBody>
          <a:bodyPr/>
          <a:lstStyle/>
          <a:p>
            <a:fld id="{1A209DE5-72B1-4C4E-A450-179FF475A3F3}" type="slidenum">
              <a:rPr lang="en-IN" smtClean="0"/>
              <a:t>‹#›</a:t>
            </a:fld>
            <a:endParaRPr lang="en-IN"/>
          </a:p>
        </p:txBody>
      </p:sp>
    </p:spTree>
    <p:extLst>
      <p:ext uri="{BB962C8B-B14F-4D97-AF65-F5344CB8AC3E}">
        <p14:creationId xmlns:p14="http://schemas.microsoft.com/office/powerpoint/2010/main" val="2375187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CEFF0-4082-397B-EE15-10E5DEBC2B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52EF68-F176-2857-1CC5-E5C8089119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90C3D78-4703-A1F0-440C-D79D1D6D0F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2AAED85-CA91-240A-B5D6-FD9A2672FF2D}"/>
              </a:ext>
            </a:extLst>
          </p:cNvPr>
          <p:cNvSpPr>
            <a:spLocks noGrp="1"/>
          </p:cNvSpPr>
          <p:nvPr>
            <p:ph type="dt" sz="half" idx="10"/>
          </p:nvPr>
        </p:nvSpPr>
        <p:spPr/>
        <p:txBody>
          <a:bodyPr/>
          <a:lstStyle/>
          <a:p>
            <a:fld id="{F69A82A8-60E4-456A-A46E-E965B002866D}" type="datetimeFigureOut">
              <a:rPr lang="en-IN" smtClean="0"/>
              <a:t>06-04-2026</a:t>
            </a:fld>
            <a:endParaRPr lang="en-IN"/>
          </a:p>
        </p:txBody>
      </p:sp>
      <p:sp>
        <p:nvSpPr>
          <p:cNvPr id="6" name="Footer Placeholder 5">
            <a:extLst>
              <a:ext uri="{FF2B5EF4-FFF2-40B4-BE49-F238E27FC236}">
                <a16:creationId xmlns:a16="http://schemas.microsoft.com/office/drawing/2014/main" id="{F1C005D1-F4D3-344B-83DE-FB709A936C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5EE287-0AB4-EA78-3452-B8D46912E11B}"/>
              </a:ext>
            </a:extLst>
          </p:cNvPr>
          <p:cNvSpPr>
            <a:spLocks noGrp="1"/>
          </p:cNvSpPr>
          <p:nvPr>
            <p:ph type="sldNum" sz="quarter" idx="12"/>
          </p:nvPr>
        </p:nvSpPr>
        <p:spPr/>
        <p:txBody>
          <a:bodyPr/>
          <a:lstStyle/>
          <a:p>
            <a:fld id="{1A209DE5-72B1-4C4E-A450-179FF475A3F3}" type="slidenum">
              <a:rPr lang="en-IN" smtClean="0"/>
              <a:t>‹#›</a:t>
            </a:fld>
            <a:endParaRPr lang="en-IN"/>
          </a:p>
        </p:txBody>
      </p:sp>
    </p:spTree>
    <p:extLst>
      <p:ext uri="{BB962C8B-B14F-4D97-AF65-F5344CB8AC3E}">
        <p14:creationId xmlns:p14="http://schemas.microsoft.com/office/powerpoint/2010/main" val="1517391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2A7D3-0C56-CBA1-CF37-3F19EBAE3B6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FC4A3E-4518-0C3F-C8A3-AE43FC97A7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7F536E-C4A8-1FC9-6FFA-DEEDB5B75F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5F3D98B-BA3C-61C2-6E10-4B6880D7C9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4CF992-8232-1006-A792-FEE747896F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13ACA55-6DE0-3F24-40CC-5D5B85AAD14D}"/>
              </a:ext>
            </a:extLst>
          </p:cNvPr>
          <p:cNvSpPr>
            <a:spLocks noGrp="1"/>
          </p:cNvSpPr>
          <p:nvPr>
            <p:ph type="dt" sz="half" idx="10"/>
          </p:nvPr>
        </p:nvSpPr>
        <p:spPr/>
        <p:txBody>
          <a:bodyPr/>
          <a:lstStyle/>
          <a:p>
            <a:fld id="{F69A82A8-60E4-456A-A46E-E965B002866D}" type="datetimeFigureOut">
              <a:rPr lang="en-IN" smtClean="0"/>
              <a:t>06-04-2026</a:t>
            </a:fld>
            <a:endParaRPr lang="en-IN"/>
          </a:p>
        </p:txBody>
      </p:sp>
      <p:sp>
        <p:nvSpPr>
          <p:cNvPr id="8" name="Footer Placeholder 7">
            <a:extLst>
              <a:ext uri="{FF2B5EF4-FFF2-40B4-BE49-F238E27FC236}">
                <a16:creationId xmlns:a16="http://schemas.microsoft.com/office/drawing/2014/main" id="{C2C5013A-8523-9971-DA59-241036522B4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7A7D198-4960-E8D9-6F53-78A7CD072F99}"/>
              </a:ext>
            </a:extLst>
          </p:cNvPr>
          <p:cNvSpPr>
            <a:spLocks noGrp="1"/>
          </p:cNvSpPr>
          <p:nvPr>
            <p:ph type="sldNum" sz="quarter" idx="12"/>
          </p:nvPr>
        </p:nvSpPr>
        <p:spPr/>
        <p:txBody>
          <a:bodyPr/>
          <a:lstStyle/>
          <a:p>
            <a:fld id="{1A209DE5-72B1-4C4E-A450-179FF475A3F3}" type="slidenum">
              <a:rPr lang="en-IN" smtClean="0"/>
              <a:t>‹#›</a:t>
            </a:fld>
            <a:endParaRPr lang="en-IN"/>
          </a:p>
        </p:txBody>
      </p:sp>
    </p:spTree>
    <p:extLst>
      <p:ext uri="{BB962C8B-B14F-4D97-AF65-F5344CB8AC3E}">
        <p14:creationId xmlns:p14="http://schemas.microsoft.com/office/powerpoint/2010/main" val="3036802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C6733-FC47-A79A-F0BA-10EC4D01800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FD4B9B2-6DF6-350A-E390-3D9157E5C4E4}"/>
              </a:ext>
            </a:extLst>
          </p:cNvPr>
          <p:cNvSpPr>
            <a:spLocks noGrp="1"/>
          </p:cNvSpPr>
          <p:nvPr>
            <p:ph type="dt" sz="half" idx="10"/>
          </p:nvPr>
        </p:nvSpPr>
        <p:spPr/>
        <p:txBody>
          <a:bodyPr/>
          <a:lstStyle/>
          <a:p>
            <a:fld id="{F69A82A8-60E4-456A-A46E-E965B002866D}" type="datetimeFigureOut">
              <a:rPr lang="en-IN" smtClean="0"/>
              <a:t>06-04-2026</a:t>
            </a:fld>
            <a:endParaRPr lang="en-IN"/>
          </a:p>
        </p:txBody>
      </p:sp>
      <p:sp>
        <p:nvSpPr>
          <p:cNvPr id="4" name="Footer Placeholder 3">
            <a:extLst>
              <a:ext uri="{FF2B5EF4-FFF2-40B4-BE49-F238E27FC236}">
                <a16:creationId xmlns:a16="http://schemas.microsoft.com/office/drawing/2014/main" id="{80D14174-4999-157C-CD7B-04A0FC03F24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191863D-05C2-6EE1-A5BC-C68AC5223E1D}"/>
              </a:ext>
            </a:extLst>
          </p:cNvPr>
          <p:cNvSpPr>
            <a:spLocks noGrp="1"/>
          </p:cNvSpPr>
          <p:nvPr>
            <p:ph type="sldNum" sz="quarter" idx="12"/>
          </p:nvPr>
        </p:nvSpPr>
        <p:spPr/>
        <p:txBody>
          <a:bodyPr/>
          <a:lstStyle/>
          <a:p>
            <a:fld id="{1A209DE5-72B1-4C4E-A450-179FF475A3F3}" type="slidenum">
              <a:rPr lang="en-IN" smtClean="0"/>
              <a:t>‹#›</a:t>
            </a:fld>
            <a:endParaRPr lang="en-IN"/>
          </a:p>
        </p:txBody>
      </p:sp>
    </p:spTree>
    <p:extLst>
      <p:ext uri="{BB962C8B-B14F-4D97-AF65-F5344CB8AC3E}">
        <p14:creationId xmlns:p14="http://schemas.microsoft.com/office/powerpoint/2010/main" val="1507380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BAAF57-2A0A-C4CC-7E56-B190207BF825}"/>
              </a:ext>
            </a:extLst>
          </p:cNvPr>
          <p:cNvSpPr>
            <a:spLocks noGrp="1"/>
          </p:cNvSpPr>
          <p:nvPr>
            <p:ph type="dt" sz="half" idx="10"/>
          </p:nvPr>
        </p:nvSpPr>
        <p:spPr/>
        <p:txBody>
          <a:bodyPr/>
          <a:lstStyle/>
          <a:p>
            <a:fld id="{F69A82A8-60E4-456A-A46E-E965B002866D}" type="datetimeFigureOut">
              <a:rPr lang="en-IN" smtClean="0"/>
              <a:t>06-04-2026</a:t>
            </a:fld>
            <a:endParaRPr lang="en-IN"/>
          </a:p>
        </p:txBody>
      </p:sp>
      <p:sp>
        <p:nvSpPr>
          <p:cNvPr id="3" name="Footer Placeholder 2">
            <a:extLst>
              <a:ext uri="{FF2B5EF4-FFF2-40B4-BE49-F238E27FC236}">
                <a16:creationId xmlns:a16="http://schemas.microsoft.com/office/drawing/2014/main" id="{B1F824D4-300A-7604-7ECE-BBAB357666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67F4970-316B-D76B-4D51-4ACC31D3C0BF}"/>
              </a:ext>
            </a:extLst>
          </p:cNvPr>
          <p:cNvSpPr>
            <a:spLocks noGrp="1"/>
          </p:cNvSpPr>
          <p:nvPr>
            <p:ph type="sldNum" sz="quarter" idx="12"/>
          </p:nvPr>
        </p:nvSpPr>
        <p:spPr/>
        <p:txBody>
          <a:bodyPr/>
          <a:lstStyle/>
          <a:p>
            <a:fld id="{1A209DE5-72B1-4C4E-A450-179FF475A3F3}" type="slidenum">
              <a:rPr lang="en-IN" smtClean="0"/>
              <a:t>‹#›</a:t>
            </a:fld>
            <a:endParaRPr lang="en-IN"/>
          </a:p>
        </p:txBody>
      </p:sp>
    </p:spTree>
    <p:extLst>
      <p:ext uri="{BB962C8B-B14F-4D97-AF65-F5344CB8AC3E}">
        <p14:creationId xmlns:p14="http://schemas.microsoft.com/office/powerpoint/2010/main" val="2613639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B12F3-FC30-8DD9-2855-2B1262736E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5C821BD-FE4C-C117-6D1C-44F285825E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92BA4A4-84C3-BAE2-9D6C-F759030A88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359028-62BE-39EC-075F-0625714888B5}"/>
              </a:ext>
            </a:extLst>
          </p:cNvPr>
          <p:cNvSpPr>
            <a:spLocks noGrp="1"/>
          </p:cNvSpPr>
          <p:nvPr>
            <p:ph type="dt" sz="half" idx="10"/>
          </p:nvPr>
        </p:nvSpPr>
        <p:spPr/>
        <p:txBody>
          <a:bodyPr/>
          <a:lstStyle/>
          <a:p>
            <a:fld id="{F69A82A8-60E4-456A-A46E-E965B002866D}" type="datetimeFigureOut">
              <a:rPr lang="en-IN" smtClean="0"/>
              <a:t>06-04-2026</a:t>
            </a:fld>
            <a:endParaRPr lang="en-IN"/>
          </a:p>
        </p:txBody>
      </p:sp>
      <p:sp>
        <p:nvSpPr>
          <p:cNvPr id="6" name="Footer Placeholder 5">
            <a:extLst>
              <a:ext uri="{FF2B5EF4-FFF2-40B4-BE49-F238E27FC236}">
                <a16:creationId xmlns:a16="http://schemas.microsoft.com/office/drawing/2014/main" id="{0514C4E7-0374-23B8-7DD3-C558E2449C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194CCB-0B55-2317-A205-1F9107D0A68C}"/>
              </a:ext>
            </a:extLst>
          </p:cNvPr>
          <p:cNvSpPr>
            <a:spLocks noGrp="1"/>
          </p:cNvSpPr>
          <p:nvPr>
            <p:ph type="sldNum" sz="quarter" idx="12"/>
          </p:nvPr>
        </p:nvSpPr>
        <p:spPr/>
        <p:txBody>
          <a:bodyPr/>
          <a:lstStyle/>
          <a:p>
            <a:fld id="{1A209DE5-72B1-4C4E-A450-179FF475A3F3}" type="slidenum">
              <a:rPr lang="en-IN" smtClean="0"/>
              <a:t>‹#›</a:t>
            </a:fld>
            <a:endParaRPr lang="en-IN"/>
          </a:p>
        </p:txBody>
      </p:sp>
    </p:spTree>
    <p:extLst>
      <p:ext uri="{BB962C8B-B14F-4D97-AF65-F5344CB8AC3E}">
        <p14:creationId xmlns:p14="http://schemas.microsoft.com/office/powerpoint/2010/main" val="3926272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3C82C-6469-F969-E190-DD082C84EB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F6EFAD-2CAC-085E-F779-6EE1720E79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6CC6F01-B97F-E5BC-9C1B-9E91F8799F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06BA61-E3CB-F246-8200-56321142E932}"/>
              </a:ext>
            </a:extLst>
          </p:cNvPr>
          <p:cNvSpPr>
            <a:spLocks noGrp="1"/>
          </p:cNvSpPr>
          <p:nvPr>
            <p:ph type="dt" sz="half" idx="10"/>
          </p:nvPr>
        </p:nvSpPr>
        <p:spPr/>
        <p:txBody>
          <a:bodyPr/>
          <a:lstStyle/>
          <a:p>
            <a:fld id="{F69A82A8-60E4-456A-A46E-E965B002866D}" type="datetimeFigureOut">
              <a:rPr lang="en-IN" smtClean="0"/>
              <a:t>06-04-2026</a:t>
            </a:fld>
            <a:endParaRPr lang="en-IN"/>
          </a:p>
        </p:txBody>
      </p:sp>
      <p:sp>
        <p:nvSpPr>
          <p:cNvPr id="6" name="Footer Placeholder 5">
            <a:extLst>
              <a:ext uri="{FF2B5EF4-FFF2-40B4-BE49-F238E27FC236}">
                <a16:creationId xmlns:a16="http://schemas.microsoft.com/office/drawing/2014/main" id="{8592014A-1DCF-339F-7ED7-E7485FC782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4B6E72-4B98-0D8D-0C7D-FD5F99B207C6}"/>
              </a:ext>
            </a:extLst>
          </p:cNvPr>
          <p:cNvSpPr>
            <a:spLocks noGrp="1"/>
          </p:cNvSpPr>
          <p:nvPr>
            <p:ph type="sldNum" sz="quarter" idx="12"/>
          </p:nvPr>
        </p:nvSpPr>
        <p:spPr/>
        <p:txBody>
          <a:bodyPr/>
          <a:lstStyle/>
          <a:p>
            <a:fld id="{1A209DE5-72B1-4C4E-A450-179FF475A3F3}" type="slidenum">
              <a:rPr lang="en-IN" smtClean="0"/>
              <a:t>‹#›</a:t>
            </a:fld>
            <a:endParaRPr lang="en-IN"/>
          </a:p>
        </p:txBody>
      </p:sp>
    </p:spTree>
    <p:extLst>
      <p:ext uri="{BB962C8B-B14F-4D97-AF65-F5344CB8AC3E}">
        <p14:creationId xmlns:p14="http://schemas.microsoft.com/office/powerpoint/2010/main" val="2895803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7E7B6-CDF6-24A0-AEA4-673A4CAADE4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A5493C-39CF-AF4B-1850-4119EA43C9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BEADB5-1438-8B79-5E74-26E08634648A}"/>
              </a:ext>
            </a:extLst>
          </p:cNvPr>
          <p:cNvSpPr>
            <a:spLocks noGrp="1"/>
          </p:cNvSpPr>
          <p:nvPr>
            <p:ph type="dt" sz="half" idx="10"/>
          </p:nvPr>
        </p:nvSpPr>
        <p:spPr/>
        <p:txBody>
          <a:bodyPr/>
          <a:lstStyle/>
          <a:p>
            <a:fld id="{F69A82A8-60E4-456A-A46E-E965B002866D}" type="datetimeFigureOut">
              <a:rPr lang="en-IN" smtClean="0"/>
              <a:t>06-04-2026</a:t>
            </a:fld>
            <a:endParaRPr lang="en-IN"/>
          </a:p>
        </p:txBody>
      </p:sp>
      <p:sp>
        <p:nvSpPr>
          <p:cNvPr id="5" name="Footer Placeholder 4">
            <a:extLst>
              <a:ext uri="{FF2B5EF4-FFF2-40B4-BE49-F238E27FC236}">
                <a16:creationId xmlns:a16="http://schemas.microsoft.com/office/drawing/2014/main" id="{F7BD05C4-70C4-160B-7F38-CA877E8B5F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2E3734-5DCF-BC94-98B9-AA71DF509B4B}"/>
              </a:ext>
            </a:extLst>
          </p:cNvPr>
          <p:cNvSpPr>
            <a:spLocks noGrp="1"/>
          </p:cNvSpPr>
          <p:nvPr>
            <p:ph type="sldNum" sz="quarter" idx="12"/>
          </p:nvPr>
        </p:nvSpPr>
        <p:spPr/>
        <p:txBody>
          <a:bodyPr/>
          <a:lstStyle/>
          <a:p>
            <a:fld id="{1A209DE5-72B1-4C4E-A450-179FF475A3F3}" type="slidenum">
              <a:rPr lang="en-IN" smtClean="0"/>
              <a:t>‹#›</a:t>
            </a:fld>
            <a:endParaRPr lang="en-IN"/>
          </a:p>
        </p:txBody>
      </p:sp>
    </p:spTree>
    <p:extLst>
      <p:ext uri="{BB962C8B-B14F-4D97-AF65-F5344CB8AC3E}">
        <p14:creationId xmlns:p14="http://schemas.microsoft.com/office/powerpoint/2010/main" val="3138116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EEF719-7FD0-54D9-1AB5-91366A5F59E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847CD3-6489-BD34-DB64-C3A8152445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6D540A-4A9E-3EDA-004D-7C93BBF00707}"/>
              </a:ext>
            </a:extLst>
          </p:cNvPr>
          <p:cNvSpPr>
            <a:spLocks noGrp="1"/>
          </p:cNvSpPr>
          <p:nvPr>
            <p:ph type="dt" sz="half" idx="10"/>
          </p:nvPr>
        </p:nvSpPr>
        <p:spPr/>
        <p:txBody>
          <a:bodyPr/>
          <a:lstStyle/>
          <a:p>
            <a:fld id="{F69A82A8-60E4-456A-A46E-E965B002866D}" type="datetimeFigureOut">
              <a:rPr lang="en-IN" smtClean="0"/>
              <a:t>06-04-2026</a:t>
            </a:fld>
            <a:endParaRPr lang="en-IN"/>
          </a:p>
        </p:txBody>
      </p:sp>
      <p:sp>
        <p:nvSpPr>
          <p:cNvPr id="5" name="Footer Placeholder 4">
            <a:extLst>
              <a:ext uri="{FF2B5EF4-FFF2-40B4-BE49-F238E27FC236}">
                <a16:creationId xmlns:a16="http://schemas.microsoft.com/office/drawing/2014/main" id="{9AEF5A9B-755F-7AF2-88F9-75D47D9E32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5B21A3-A18B-D8C6-C2FF-CC711C755C48}"/>
              </a:ext>
            </a:extLst>
          </p:cNvPr>
          <p:cNvSpPr>
            <a:spLocks noGrp="1"/>
          </p:cNvSpPr>
          <p:nvPr>
            <p:ph type="sldNum" sz="quarter" idx="12"/>
          </p:nvPr>
        </p:nvSpPr>
        <p:spPr/>
        <p:txBody>
          <a:bodyPr/>
          <a:lstStyle/>
          <a:p>
            <a:fld id="{1A209DE5-72B1-4C4E-A450-179FF475A3F3}" type="slidenum">
              <a:rPr lang="en-IN" smtClean="0"/>
              <a:t>‹#›</a:t>
            </a:fld>
            <a:endParaRPr lang="en-IN"/>
          </a:p>
        </p:txBody>
      </p:sp>
    </p:spTree>
    <p:extLst>
      <p:ext uri="{BB962C8B-B14F-4D97-AF65-F5344CB8AC3E}">
        <p14:creationId xmlns:p14="http://schemas.microsoft.com/office/powerpoint/2010/main" val="3213382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A5819A-D947-1336-4EAF-81ACE33E33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0BA8CE-E682-DED6-8980-3F3B1F0460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1D32E6-5D50-3034-73F0-D0D0C7BAA0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9A82A8-60E4-456A-A46E-E965B002866D}" type="datetimeFigureOut">
              <a:rPr lang="en-IN" smtClean="0"/>
              <a:t>06-04-2026</a:t>
            </a:fld>
            <a:endParaRPr lang="en-IN"/>
          </a:p>
        </p:txBody>
      </p:sp>
      <p:sp>
        <p:nvSpPr>
          <p:cNvPr id="5" name="Footer Placeholder 4">
            <a:extLst>
              <a:ext uri="{FF2B5EF4-FFF2-40B4-BE49-F238E27FC236}">
                <a16:creationId xmlns:a16="http://schemas.microsoft.com/office/drawing/2014/main" id="{0128CB71-D4B5-CED4-D590-D5560B196F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0EECA0-5EAA-5649-2B41-385E4F2AC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209DE5-72B1-4C4E-A450-179FF475A3F3}" type="slidenum">
              <a:rPr lang="en-IN" smtClean="0"/>
              <a:t>‹#›</a:t>
            </a:fld>
            <a:endParaRPr lang="en-IN"/>
          </a:p>
        </p:txBody>
      </p:sp>
    </p:spTree>
    <p:extLst>
      <p:ext uri="{BB962C8B-B14F-4D97-AF65-F5344CB8AC3E}">
        <p14:creationId xmlns:p14="http://schemas.microsoft.com/office/powerpoint/2010/main" val="4066830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_rels/slide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5.png"/></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 Id="rId4"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239D8EFD-79A1-A654-754A-8860DCCB891A}"/>
              </a:ext>
            </a:extLst>
          </p:cNvPr>
          <p:cNvSpPr txBox="1"/>
          <p:nvPr/>
        </p:nvSpPr>
        <p:spPr>
          <a:xfrm>
            <a:off x="1494503" y="471948"/>
            <a:ext cx="8996516" cy="584775"/>
          </a:xfrm>
          <a:prstGeom prst="rect">
            <a:avLst/>
          </a:prstGeom>
          <a:noFill/>
        </p:spPr>
        <p:txBody>
          <a:bodyPr wrap="square" rtlCol="0">
            <a:spAutoFit/>
          </a:bodyPr>
          <a:lstStyle/>
          <a:p>
            <a:pPr algn="ctr"/>
            <a:r>
              <a:rPr lang="en-US" sz="3200" b="1" dirty="0">
                <a:solidFill>
                  <a:schemeClr val="tx1">
                    <a:lumMod val="75000"/>
                    <a:lumOff val="25000"/>
                  </a:schemeClr>
                </a:solidFill>
              </a:rPr>
              <a:t>Content_Scheduling_for_Maximizing_Engagement</a:t>
            </a:r>
          </a:p>
        </p:txBody>
      </p:sp>
      <p:sp>
        <p:nvSpPr>
          <p:cNvPr id="12" name="TextBox 11">
            <a:extLst>
              <a:ext uri="{FF2B5EF4-FFF2-40B4-BE49-F238E27FC236}">
                <a16:creationId xmlns:a16="http://schemas.microsoft.com/office/drawing/2014/main" id="{81667FF1-370B-CB7E-0BEB-B74F3550CA4F}"/>
              </a:ext>
            </a:extLst>
          </p:cNvPr>
          <p:cNvSpPr txBox="1"/>
          <p:nvPr/>
        </p:nvSpPr>
        <p:spPr>
          <a:xfrm>
            <a:off x="688258" y="2113935"/>
            <a:ext cx="5152103" cy="4154984"/>
          </a:xfrm>
          <a:prstGeom prst="rect">
            <a:avLst/>
          </a:prstGeom>
          <a:noFill/>
        </p:spPr>
        <p:txBody>
          <a:bodyPr wrap="square" rtlCol="0">
            <a:spAutoFit/>
          </a:bodyPr>
          <a:lstStyle/>
          <a:p>
            <a:r>
              <a:rPr lang="en-US" sz="2200" b="1" dirty="0"/>
              <a:t>OTT (Over-the-Top)</a:t>
            </a:r>
            <a:r>
              <a:rPr lang="en-US" sz="2200" dirty="0"/>
              <a:t> streaming platforms operate in a fast-paced, highly competitive market. To stay ahead, platforms must ensure that content is not only engaging but also released at the right time and tailored to the right audience. Viewer retention, engagement, and satisfaction directly impact subscription revenue and ad monetization. Therefore, optimizing content scheduling, marketing strategies, and personalized recommendations is essential</a:t>
            </a:r>
            <a:r>
              <a:rPr lang="en-US" sz="2000" dirty="0"/>
              <a:t>.​</a:t>
            </a:r>
            <a:endParaRPr lang="en-IN" sz="2000" dirty="0"/>
          </a:p>
        </p:txBody>
      </p:sp>
      <p:sp>
        <p:nvSpPr>
          <p:cNvPr id="14" name="TextBox 13">
            <a:extLst>
              <a:ext uri="{FF2B5EF4-FFF2-40B4-BE49-F238E27FC236}">
                <a16:creationId xmlns:a16="http://schemas.microsoft.com/office/drawing/2014/main" id="{43E73901-AD40-F58B-5818-CC19DBAA8D52}"/>
              </a:ext>
            </a:extLst>
          </p:cNvPr>
          <p:cNvSpPr txBox="1"/>
          <p:nvPr/>
        </p:nvSpPr>
        <p:spPr>
          <a:xfrm>
            <a:off x="526026" y="1646310"/>
            <a:ext cx="6096000" cy="369332"/>
          </a:xfrm>
          <a:prstGeom prst="rect">
            <a:avLst/>
          </a:prstGeom>
          <a:noFill/>
        </p:spPr>
        <p:txBody>
          <a:bodyPr wrap="square">
            <a:spAutoFit/>
          </a:bodyPr>
          <a:lstStyle/>
          <a:p>
            <a:r>
              <a:rPr lang="en-US" sz="1800" b="1" i="0" u="none" strike="noStrike" dirty="0">
                <a:effectLst/>
                <a:latin typeface="Alike Bold"/>
              </a:rPr>
              <a:t>Business Context</a:t>
            </a:r>
            <a:r>
              <a:rPr lang="en-US" sz="1800" b="0" i="0" dirty="0">
                <a:solidFill>
                  <a:srgbClr val="000000"/>
                </a:solidFill>
                <a:effectLst/>
                <a:latin typeface="Alike Bold"/>
              </a:rPr>
              <a:t>​:</a:t>
            </a:r>
            <a:endParaRPr lang="en-IN" dirty="0"/>
          </a:p>
        </p:txBody>
      </p:sp>
      <p:pic>
        <p:nvPicPr>
          <p:cNvPr id="17" name="Picture 16">
            <a:extLst>
              <a:ext uri="{FF2B5EF4-FFF2-40B4-BE49-F238E27FC236}">
                <a16:creationId xmlns:a16="http://schemas.microsoft.com/office/drawing/2014/main" id="{F78AE6C9-14C2-4A45-6A07-A99D4F324C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4594" y="1917289"/>
            <a:ext cx="4739147" cy="4351629"/>
          </a:xfrm>
          <a:prstGeom prst="rect">
            <a:avLst/>
          </a:prstGeom>
        </p:spPr>
      </p:pic>
    </p:spTree>
    <p:extLst>
      <p:ext uri="{BB962C8B-B14F-4D97-AF65-F5344CB8AC3E}">
        <p14:creationId xmlns:p14="http://schemas.microsoft.com/office/powerpoint/2010/main" val="377356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BC29C6-7FC9-EDFA-7297-FB4FBC4D6843}"/>
              </a:ext>
            </a:extLst>
          </p:cNvPr>
          <p:cNvSpPr txBox="1"/>
          <p:nvPr/>
        </p:nvSpPr>
        <p:spPr>
          <a:xfrm>
            <a:off x="727587" y="1292411"/>
            <a:ext cx="5860026" cy="4555093"/>
          </a:xfrm>
          <a:prstGeom prst="rect">
            <a:avLst/>
          </a:prstGeom>
          <a:noFill/>
        </p:spPr>
        <p:txBody>
          <a:bodyPr wrap="square">
            <a:spAutoFit/>
          </a:bodyPr>
          <a:lstStyle/>
          <a:p>
            <a:pPr algn="l" rtl="0" fontAlgn="base">
              <a:buNone/>
            </a:pPr>
            <a:r>
              <a:rPr lang="en-US" sz="1800" i="0" u="none" strike="noStrike" dirty="0">
                <a:solidFill>
                  <a:srgbClr val="000000"/>
                </a:solidFill>
                <a:effectLst/>
                <a:latin typeface="Times New Roman" panose="02020603050405020304" pitchFamily="18" charset="0"/>
              </a:rPr>
              <a:t>The OTT platform aims to maximize viewer engagement and retention by optimizing content scheduling based on audience behavior, content performance, and market competition. The platform faces challenges in determining the ideal time slots, target audience, and content types that drive the most engagement and repeat views</a:t>
            </a:r>
            <a:r>
              <a:rPr lang="en-US" sz="1800" b="0" i="0" u="none" strike="noStrike" dirty="0">
                <a:solidFill>
                  <a:srgbClr val="000000"/>
                </a:solidFill>
                <a:effectLst/>
                <a:latin typeface="Times New Roman" panose="02020603050405020304" pitchFamily="18" charset="0"/>
              </a:rPr>
              <a:t>.</a:t>
            </a:r>
            <a:r>
              <a:rPr lang="en-US" sz="1800" b="0" i="0" dirty="0">
                <a:solidFill>
                  <a:srgbClr val="000000"/>
                </a:solidFill>
                <a:effectLst/>
                <a:latin typeface="Times New Roman" panose="02020603050405020304" pitchFamily="18" charset="0"/>
              </a:rPr>
              <a:t>​ </a:t>
            </a:r>
            <a:endParaRPr lang="en-US" b="0" i="0" dirty="0">
              <a:solidFill>
                <a:srgbClr val="000000"/>
              </a:solidFill>
              <a:effectLst/>
              <a:latin typeface="Arial" panose="020B0604020202020204" pitchFamily="34" charset="0"/>
            </a:endParaRPr>
          </a:p>
          <a:p>
            <a:pPr algn="l" rtl="0" fontAlgn="base">
              <a:buNone/>
            </a:pPr>
            <a:r>
              <a:rPr lang="en-US" sz="2000" b="1" i="0" u="none" strike="noStrike" dirty="0">
                <a:solidFill>
                  <a:srgbClr val="0E2841"/>
                </a:solidFill>
                <a:effectLst/>
                <a:latin typeface="Times New Roman" panose="02020603050405020304" pitchFamily="18" charset="0"/>
              </a:rPr>
              <a:t>Key Business Questions:</a:t>
            </a:r>
            <a:r>
              <a:rPr lang="en-US" sz="20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When should new content be scheduled to achieve the highest viewership?</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What content types or genres perform best with different demographic groups?</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How does competitor content impact viewership on our platform?</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What factors drive content virality (likes, shares, watch time)?</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Which users are at risk of disengagement or churn?</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p:txBody>
      </p:sp>
      <p:pic>
        <p:nvPicPr>
          <p:cNvPr id="1026" name="Picture 2" descr="Project management concept with blue businessman">
            <a:extLst>
              <a:ext uri="{FF2B5EF4-FFF2-40B4-BE49-F238E27FC236}">
                <a16:creationId xmlns:a16="http://schemas.microsoft.com/office/drawing/2014/main" id="{3725C8BB-5C15-82DB-A720-8507C984AF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9729" y="1411085"/>
            <a:ext cx="4414684" cy="443642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B4E6DBD-A707-FB01-EA36-5F8627D9EDFA}"/>
              </a:ext>
            </a:extLst>
          </p:cNvPr>
          <p:cNvSpPr txBox="1"/>
          <p:nvPr/>
        </p:nvSpPr>
        <p:spPr>
          <a:xfrm>
            <a:off x="1976284" y="383458"/>
            <a:ext cx="8249264" cy="584775"/>
          </a:xfrm>
          <a:prstGeom prst="rect">
            <a:avLst/>
          </a:prstGeom>
          <a:noFill/>
        </p:spPr>
        <p:txBody>
          <a:bodyPr wrap="square" rtlCol="0">
            <a:spAutoFit/>
          </a:bodyPr>
          <a:lstStyle/>
          <a:p>
            <a:pPr algn="ctr"/>
            <a:r>
              <a:rPr lang="en-US" sz="3200" b="1" dirty="0"/>
              <a:t>Problem Statement</a:t>
            </a:r>
            <a:endParaRPr lang="en-IN" sz="3200" b="1" dirty="0"/>
          </a:p>
        </p:txBody>
      </p:sp>
    </p:spTree>
    <p:extLst>
      <p:ext uri="{BB962C8B-B14F-4D97-AF65-F5344CB8AC3E}">
        <p14:creationId xmlns:p14="http://schemas.microsoft.com/office/powerpoint/2010/main" val="3117662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A5C8E9F-0E8B-947C-8241-C9B2CD731E80}"/>
              </a:ext>
            </a:extLst>
          </p:cNvPr>
          <p:cNvGraphicFramePr>
            <a:graphicFrameLocks noGrp="1"/>
          </p:cNvGraphicFramePr>
          <p:nvPr>
            <p:extLst>
              <p:ext uri="{D42A27DB-BD31-4B8C-83A1-F6EECF244321}">
                <p14:modId xmlns:p14="http://schemas.microsoft.com/office/powerpoint/2010/main" val="3000617347"/>
              </p:ext>
            </p:extLst>
          </p:nvPr>
        </p:nvGraphicFramePr>
        <p:xfrm>
          <a:off x="1494503" y="1101213"/>
          <a:ext cx="9242324" cy="4650660"/>
        </p:xfrm>
        <a:graphic>
          <a:graphicData uri="http://schemas.openxmlformats.org/drawingml/2006/table">
            <a:tbl>
              <a:tblPr/>
              <a:tblGrid>
                <a:gridCol w="4621162">
                  <a:extLst>
                    <a:ext uri="{9D8B030D-6E8A-4147-A177-3AD203B41FA5}">
                      <a16:colId xmlns:a16="http://schemas.microsoft.com/office/drawing/2014/main" val="2905032753"/>
                    </a:ext>
                  </a:extLst>
                </a:gridCol>
                <a:gridCol w="4621162">
                  <a:extLst>
                    <a:ext uri="{9D8B030D-6E8A-4147-A177-3AD203B41FA5}">
                      <a16:colId xmlns:a16="http://schemas.microsoft.com/office/drawing/2014/main" val="1072060877"/>
                    </a:ext>
                  </a:extLst>
                </a:gridCol>
              </a:tblGrid>
              <a:tr h="387555">
                <a:tc>
                  <a:txBody>
                    <a:bodyPr/>
                    <a:lstStyle/>
                    <a:p>
                      <a:pPr algn="l" rtl="0" fontAlgn="base">
                        <a:lnSpc>
                          <a:spcPts val="1500"/>
                        </a:lnSpc>
                        <a:buNone/>
                      </a:pPr>
                      <a:r>
                        <a:rPr lang="en-US" sz="1600" b="1" i="0">
                          <a:solidFill>
                            <a:srgbClr val="FFFFFF"/>
                          </a:solidFill>
                          <a:effectLst/>
                          <a:latin typeface="Cambria" panose="02040503050406030204" pitchFamily="18" charset="0"/>
                        </a:rPr>
                        <a:t>Columns Name​</a:t>
                      </a:r>
                      <a:endParaRPr lang="en-US" sz="1600" b="1" i="0">
                        <a:solidFill>
                          <a:srgbClr val="FFFFFF"/>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1031" cap="flat" cmpd="sng" algn="ctr">
                      <a:solidFill>
                        <a:srgbClr val="FFFFFF"/>
                      </a:solidFill>
                      <a:prstDash val="solid"/>
                      <a:round/>
                      <a:headEnd type="none" w="med" len="med"/>
                      <a:tailEnd type="none" w="med" len="med"/>
                    </a:lnB>
                    <a:solidFill>
                      <a:srgbClr val="156082"/>
                    </a:solidFill>
                  </a:tcPr>
                </a:tc>
                <a:tc>
                  <a:txBody>
                    <a:bodyPr/>
                    <a:lstStyle/>
                    <a:p>
                      <a:pPr algn="l" rtl="0" fontAlgn="base">
                        <a:lnSpc>
                          <a:spcPts val="1500"/>
                        </a:lnSpc>
                        <a:buNone/>
                      </a:pPr>
                      <a:r>
                        <a:rPr lang="en-US" sz="1600" b="1" i="0">
                          <a:solidFill>
                            <a:srgbClr val="FFFFFF"/>
                          </a:solidFill>
                          <a:effectLst/>
                          <a:latin typeface="Cambria" panose="02040503050406030204" pitchFamily="18" charset="0"/>
                        </a:rPr>
                        <a:t>Description ​</a:t>
                      </a:r>
                      <a:endParaRPr lang="en-US" sz="1600" b="1" i="0">
                        <a:solidFill>
                          <a:srgbClr val="FFFFFF"/>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1031" cap="flat" cmpd="sng" algn="ctr">
                      <a:solidFill>
                        <a:srgbClr val="FFFFFF"/>
                      </a:solidFill>
                      <a:prstDash val="solid"/>
                      <a:round/>
                      <a:headEnd type="none" w="med" len="med"/>
                      <a:tailEnd type="none" w="med" len="med"/>
                    </a:lnB>
                    <a:solidFill>
                      <a:srgbClr val="156082"/>
                    </a:solidFill>
                  </a:tcPr>
                </a:tc>
                <a:extLst>
                  <a:ext uri="{0D108BD9-81ED-4DB2-BD59-A6C34878D82A}">
                    <a16:rowId xmlns:a16="http://schemas.microsoft.com/office/drawing/2014/main" val="3180850511"/>
                  </a:ext>
                </a:extLst>
              </a:tr>
              <a:tr h="387555">
                <a:tc>
                  <a:txBody>
                    <a:bodyPr/>
                    <a:lstStyle/>
                    <a:p>
                      <a:pPr algn="l" rtl="0" fontAlgn="base">
                        <a:lnSpc>
                          <a:spcPts val="1500"/>
                        </a:lnSpc>
                        <a:buNone/>
                      </a:pPr>
                      <a:r>
                        <a:rPr lang="en-US" sz="1600" b="1" i="0">
                          <a:solidFill>
                            <a:srgbClr val="000000"/>
                          </a:solidFill>
                          <a:effectLst/>
                          <a:latin typeface="Cambria" panose="02040503050406030204" pitchFamily="18" charset="0"/>
                        </a:rPr>
                        <a:t>Content ID</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1031"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rtl="0" fontAlgn="base">
                        <a:lnSpc>
                          <a:spcPts val="1500"/>
                        </a:lnSpc>
                        <a:buNone/>
                      </a:pPr>
                      <a:r>
                        <a:rPr lang="en-US" sz="1600" b="0" i="0" u="none" strike="noStrike">
                          <a:solidFill>
                            <a:srgbClr val="000000"/>
                          </a:solidFill>
                          <a:effectLst/>
                          <a:latin typeface="Cambria" panose="02040503050406030204" pitchFamily="18" charset="0"/>
                        </a:rPr>
                        <a:t>Unique identifier for each content piece</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1031"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342017689"/>
                  </a:ext>
                </a:extLst>
              </a:tr>
              <a:tr h="387555">
                <a:tc>
                  <a:txBody>
                    <a:bodyPr/>
                    <a:lstStyle/>
                    <a:p>
                      <a:pPr algn="l" rtl="0" fontAlgn="base">
                        <a:lnSpc>
                          <a:spcPts val="1500"/>
                        </a:lnSpc>
                        <a:buNone/>
                      </a:pPr>
                      <a:r>
                        <a:rPr lang="en-US" sz="1600" b="1" i="0" u="none" strike="noStrike">
                          <a:solidFill>
                            <a:srgbClr val="000000"/>
                          </a:solidFill>
                          <a:effectLst/>
                          <a:latin typeface="Cambria" panose="02040503050406030204" pitchFamily="18" charset="0"/>
                        </a:rPr>
                        <a:t>Content Type</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rtl="0" fontAlgn="base">
                        <a:lnSpc>
                          <a:spcPts val="1500"/>
                        </a:lnSpc>
                        <a:buNone/>
                      </a:pPr>
                      <a:r>
                        <a:rPr lang="en-US" sz="1600" b="0" i="0" u="none" strike="noStrike">
                          <a:solidFill>
                            <a:srgbClr val="000000"/>
                          </a:solidFill>
                          <a:effectLst/>
                          <a:latin typeface="Cambria" panose="02040503050406030204" pitchFamily="18" charset="0"/>
                        </a:rPr>
                        <a:t>Category (Movie, Series, Documentary)</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2905291401"/>
                  </a:ext>
                </a:extLst>
              </a:tr>
              <a:tr h="387555">
                <a:tc>
                  <a:txBody>
                    <a:bodyPr/>
                    <a:lstStyle/>
                    <a:p>
                      <a:pPr algn="l" rtl="0" fontAlgn="base">
                        <a:lnSpc>
                          <a:spcPts val="1500"/>
                        </a:lnSpc>
                        <a:buNone/>
                      </a:pPr>
                      <a:r>
                        <a:rPr lang="en-US" sz="1600" b="1" i="0" u="none" strike="noStrike">
                          <a:solidFill>
                            <a:srgbClr val="000000"/>
                          </a:solidFill>
                          <a:effectLst/>
                          <a:latin typeface="Cambria" panose="02040503050406030204" pitchFamily="18" charset="0"/>
                        </a:rPr>
                        <a:t>Genre</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rtl="0" fontAlgn="base">
                        <a:lnSpc>
                          <a:spcPts val="1500"/>
                        </a:lnSpc>
                        <a:buNone/>
                      </a:pPr>
                      <a:r>
                        <a:rPr lang="en-US" sz="1600" b="0" i="0" u="none" strike="noStrike">
                          <a:solidFill>
                            <a:srgbClr val="000000"/>
                          </a:solidFill>
                          <a:effectLst/>
                          <a:latin typeface="Cambria" panose="02040503050406030204" pitchFamily="18" charset="0"/>
                        </a:rPr>
                        <a:t>Drama, Comedy, Action, etc.</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81006495"/>
                  </a:ext>
                </a:extLst>
              </a:tr>
              <a:tr h="387555">
                <a:tc>
                  <a:txBody>
                    <a:bodyPr/>
                    <a:lstStyle/>
                    <a:p>
                      <a:pPr algn="l" rtl="0" fontAlgn="base">
                        <a:lnSpc>
                          <a:spcPts val="1500"/>
                        </a:lnSpc>
                        <a:buNone/>
                      </a:pPr>
                      <a:r>
                        <a:rPr lang="en-US" sz="1600" b="1" i="0" u="none" strike="noStrike">
                          <a:solidFill>
                            <a:srgbClr val="000000"/>
                          </a:solidFill>
                          <a:effectLst/>
                          <a:latin typeface="Cambria" panose="02040503050406030204" pitchFamily="18" charset="0"/>
                        </a:rPr>
                        <a:t>Release Date</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rtl="0" fontAlgn="base">
                        <a:lnSpc>
                          <a:spcPts val="1500"/>
                        </a:lnSpc>
                        <a:buNone/>
                      </a:pPr>
                      <a:r>
                        <a:rPr lang="en-US" sz="1600" b="0" i="0" u="none" strike="noStrike" dirty="0">
                          <a:solidFill>
                            <a:srgbClr val="000000"/>
                          </a:solidFill>
                          <a:effectLst/>
                          <a:latin typeface="Cambria" panose="02040503050406030204" pitchFamily="18" charset="0"/>
                        </a:rPr>
                        <a:t>Date when the content was released</a:t>
                      </a:r>
                      <a:r>
                        <a:rPr lang="en-US" sz="1600" b="0" i="0" dirty="0">
                          <a:solidFill>
                            <a:srgbClr val="000000"/>
                          </a:solidFill>
                          <a:effectLst/>
                          <a:latin typeface="Cambria" panose="02040503050406030204" pitchFamily="18" charset="0"/>
                        </a:rPr>
                        <a:t>​</a:t>
                      </a:r>
                      <a:endParaRPr lang="en-US" sz="1600" b="0" i="0" dirty="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2615837082"/>
                  </a:ext>
                </a:extLst>
              </a:tr>
              <a:tr h="387555">
                <a:tc>
                  <a:txBody>
                    <a:bodyPr/>
                    <a:lstStyle/>
                    <a:p>
                      <a:pPr algn="l" rtl="0" fontAlgn="base">
                        <a:lnSpc>
                          <a:spcPts val="1500"/>
                        </a:lnSpc>
                        <a:buNone/>
                      </a:pPr>
                      <a:r>
                        <a:rPr lang="en-US" sz="1600" b="1" i="0" u="none" strike="noStrike">
                          <a:solidFill>
                            <a:srgbClr val="000000"/>
                          </a:solidFill>
                          <a:effectLst/>
                          <a:latin typeface="Cambria" panose="02040503050406030204" pitchFamily="18" charset="0"/>
                        </a:rPr>
                        <a:t>Duration (mins)</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rtl="0" fontAlgn="base">
                        <a:lnSpc>
                          <a:spcPts val="1500"/>
                        </a:lnSpc>
                        <a:buNone/>
                      </a:pPr>
                      <a:r>
                        <a:rPr lang="en-US" sz="1600" b="0" i="0" u="none" strike="noStrike" dirty="0">
                          <a:solidFill>
                            <a:srgbClr val="000000"/>
                          </a:solidFill>
                          <a:effectLst/>
                          <a:latin typeface="Cambria" panose="02040503050406030204" pitchFamily="18" charset="0"/>
                        </a:rPr>
                        <a:t>Total length of content in minutes</a:t>
                      </a:r>
                      <a:r>
                        <a:rPr lang="en-US" sz="1600" b="0" i="0" dirty="0">
                          <a:solidFill>
                            <a:srgbClr val="000000"/>
                          </a:solidFill>
                          <a:effectLst/>
                          <a:latin typeface="Cambria" panose="02040503050406030204" pitchFamily="18" charset="0"/>
                        </a:rPr>
                        <a:t>​</a:t>
                      </a:r>
                      <a:endParaRPr lang="en-US" sz="1600" b="0" i="0" dirty="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759229317"/>
                  </a:ext>
                </a:extLst>
              </a:tr>
              <a:tr h="387555">
                <a:tc>
                  <a:txBody>
                    <a:bodyPr/>
                    <a:lstStyle/>
                    <a:p>
                      <a:pPr algn="l" rtl="0" fontAlgn="base">
                        <a:lnSpc>
                          <a:spcPts val="1500"/>
                        </a:lnSpc>
                        <a:buNone/>
                      </a:pPr>
                      <a:r>
                        <a:rPr lang="en-US" sz="1600" b="1" i="0" u="none" strike="noStrike">
                          <a:solidFill>
                            <a:srgbClr val="000000"/>
                          </a:solidFill>
                          <a:effectLst/>
                          <a:latin typeface="Cambria" panose="02040503050406030204" pitchFamily="18" charset="0"/>
                        </a:rPr>
                        <a:t>Viewership</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rtl="0" fontAlgn="base">
                        <a:lnSpc>
                          <a:spcPts val="1500"/>
                        </a:lnSpc>
                        <a:buNone/>
                      </a:pPr>
                      <a:r>
                        <a:rPr lang="en-US" sz="1600" b="0" i="0" u="none" strike="noStrike" dirty="0">
                          <a:solidFill>
                            <a:srgbClr val="000000"/>
                          </a:solidFill>
                          <a:effectLst/>
                          <a:latin typeface="Cambria" panose="02040503050406030204" pitchFamily="18" charset="0"/>
                        </a:rPr>
                        <a:t>Total number of views received</a:t>
                      </a:r>
                      <a:r>
                        <a:rPr lang="en-US" sz="1600" b="0" i="0" dirty="0">
                          <a:solidFill>
                            <a:srgbClr val="000000"/>
                          </a:solidFill>
                          <a:effectLst/>
                          <a:latin typeface="Cambria" panose="02040503050406030204" pitchFamily="18" charset="0"/>
                        </a:rPr>
                        <a:t>​</a:t>
                      </a:r>
                      <a:endParaRPr lang="en-US" sz="1600" b="0" i="0" dirty="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1428088034"/>
                  </a:ext>
                </a:extLst>
              </a:tr>
              <a:tr h="387555">
                <a:tc>
                  <a:txBody>
                    <a:bodyPr/>
                    <a:lstStyle/>
                    <a:p>
                      <a:pPr algn="l" rtl="0" fontAlgn="base">
                        <a:lnSpc>
                          <a:spcPts val="1500"/>
                        </a:lnSpc>
                        <a:buNone/>
                      </a:pPr>
                      <a:r>
                        <a:rPr lang="en-US" sz="1600" b="1" i="0" u="none" strike="noStrike">
                          <a:solidFill>
                            <a:srgbClr val="000000"/>
                          </a:solidFill>
                          <a:effectLst/>
                          <a:latin typeface="Cambria" panose="02040503050406030204" pitchFamily="18" charset="0"/>
                        </a:rPr>
                        <a:t>Average Watch Time</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rtl="0" fontAlgn="base">
                        <a:lnSpc>
                          <a:spcPts val="1500"/>
                        </a:lnSpc>
                        <a:buNone/>
                      </a:pPr>
                      <a:r>
                        <a:rPr lang="en-US" sz="1600" b="0" i="0" u="none" strike="noStrike">
                          <a:solidFill>
                            <a:srgbClr val="000000"/>
                          </a:solidFill>
                          <a:effectLst/>
                          <a:latin typeface="Cambria" panose="02040503050406030204" pitchFamily="18" charset="0"/>
                        </a:rPr>
                        <a:t>Average time spent by viewers on content</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958426798"/>
                  </a:ext>
                </a:extLst>
              </a:tr>
              <a:tr h="387555">
                <a:tc>
                  <a:txBody>
                    <a:bodyPr/>
                    <a:lstStyle/>
                    <a:p>
                      <a:pPr algn="l" rtl="0" fontAlgn="base">
                        <a:lnSpc>
                          <a:spcPts val="1500"/>
                        </a:lnSpc>
                        <a:buNone/>
                      </a:pPr>
                      <a:r>
                        <a:rPr lang="en-US" sz="1600" b="1" i="0" u="none" strike="noStrike">
                          <a:solidFill>
                            <a:srgbClr val="000000"/>
                          </a:solidFill>
                          <a:effectLst/>
                          <a:latin typeface="Cambria" panose="02040503050406030204" pitchFamily="18" charset="0"/>
                        </a:rPr>
                        <a:t>Peak Viewership Time</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rtl="0" fontAlgn="base">
                        <a:lnSpc>
                          <a:spcPts val="1500"/>
                        </a:lnSpc>
                        <a:buNone/>
                      </a:pPr>
                      <a:r>
                        <a:rPr lang="en-US" sz="1600" b="0" i="0" u="none" strike="noStrike">
                          <a:solidFill>
                            <a:srgbClr val="000000"/>
                          </a:solidFill>
                          <a:effectLst/>
                          <a:latin typeface="Cambria" panose="02040503050406030204" pitchFamily="18" charset="0"/>
                        </a:rPr>
                        <a:t>Time of day when the highest views occur</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984917901"/>
                  </a:ext>
                </a:extLst>
              </a:tr>
              <a:tr h="387555">
                <a:tc>
                  <a:txBody>
                    <a:bodyPr/>
                    <a:lstStyle/>
                    <a:p>
                      <a:pPr algn="l" rtl="0" fontAlgn="base">
                        <a:lnSpc>
                          <a:spcPts val="1500"/>
                        </a:lnSpc>
                        <a:buNone/>
                      </a:pPr>
                      <a:r>
                        <a:rPr lang="en-US" sz="1600" b="1" i="0">
                          <a:solidFill>
                            <a:srgbClr val="000000"/>
                          </a:solidFill>
                          <a:effectLst/>
                          <a:latin typeface="Cambria" panose="02040503050406030204" pitchFamily="18" charset="0"/>
                        </a:rPr>
                        <a:t>Likes</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rtl="0" fontAlgn="base">
                        <a:lnSpc>
                          <a:spcPts val="1500"/>
                        </a:lnSpc>
                        <a:buNone/>
                      </a:pPr>
                      <a:r>
                        <a:rPr lang="en-US" sz="1600" b="0" i="0" u="none" strike="noStrike">
                          <a:solidFill>
                            <a:srgbClr val="000000"/>
                          </a:solidFill>
                          <a:effectLst/>
                          <a:latin typeface="Cambria" panose="02040503050406030204" pitchFamily="18" charset="0"/>
                        </a:rPr>
                        <a:t>Number of likes</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3765543321"/>
                  </a:ext>
                </a:extLst>
              </a:tr>
              <a:tr h="387555">
                <a:tc>
                  <a:txBody>
                    <a:bodyPr/>
                    <a:lstStyle/>
                    <a:p>
                      <a:pPr algn="l" rtl="0" fontAlgn="base">
                        <a:lnSpc>
                          <a:spcPts val="1500"/>
                        </a:lnSpc>
                        <a:buNone/>
                      </a:pPr>
                      <a:r>
                        <a:rPr lang="en-US" sz="1600" b="1" i="0">
                          <a:solidFill>
                            <a:srgbClr val="000000"/>
                          </a:solidFill>
                          <a:effectLst/>
                          <a:latin typeface="Cambria" panose="02040503050406030204" pitchFamily="18" charset="0"/>
                        </a:rPr>
                        <a:t>Shares</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rtl="0" fontAlgn="base">
                        <a:lnSpc>
                          <a:spcPts val="1500"/>
                        </a:lnSpc>
                        <a:buNone/>
                      </a:pPr>
                      <a:r>
                        <a:rPr lang="en-US" sz="1600" b="0" i="0" u="none" strike="noStrike">
                          <a:solidFill>
                            <a:srgbClr val="000000"/>
                          </a:solidFill>
                          <a:effectLst/>
                          <a:latin typeface="Cambria" panose="02040503050406030204" pitchFamily="18" charset="0"/>
                        </a:rPr>
                        <a:t>Number of times content was shared</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754380528"/>
                  </a:ext>
                </a:extLst>
              </a:tr>
              <a:tr h="387555">
                <a:tc>
                  <a:txBody>
                    <a:bodyPr/>
                    <a:lstStyle/>
                    <a:p>
                      <a:pPr algn="l" rtl="0" fontAlgn="base">
                        <a:lnSpc>
                          <a:spcPts val="1500"/>
                        </a:lnSpc>
                        <a:buNone/>
                      </a:pPr>
                      <a:r>
                        <a:rPr lang="en-US" sz="1600" b="1" i="0" u="none" strike="noStrike">
                          <a:solidFill>
                            <a:srgbClr val="000000"/>
                          </a:solidFill>
                          <a:effectLst/>
                          <a:latin typeface="Cambria" panose="02040503050406030204" pitchFamily="18" charset="0"/>
                        </a:rPr>
                        <a:t>Comments</a:t>
                      </a:r>
                      <a:r>
                        <a:rPr lang="en-US" sz="1600" b="0" i="0">
                          <a:solidFill>
                            <a:srgbClr val="000000"/>
                          </a:solidFill>
                          <a:effectLst/>
                          <a:latin typeface="Cambria" panose="02040503050406030204" pitchFamily="18" charset="0"/>
                        </a:rPr>
                        <a:t>​</a:t>
                      </a:r>
                      <a:endParaRPr lang="en-US" sz="1600" b="0" i="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rtl="0" fontAlgn="base">
                        <a:lnSpc>
                          <a:spcPts val="1500"/>
                        </a:lnSpc>
                        <a:buNone/>
                      </a:pPr>
                      <a:r>
                        <a:rPr lang="en-US" sz="1600" b="0" i="0" u="none" strike="noStrike" dirty="0">
                          <a:solidFill>
                            <a:srgbClr val="000000"/>
                          </a:solidFill>
                          <a:effectLst/>
                          <a:latin typeface="Cambria" panose="02040503050406030204" pitchFamily="18" charset="0"/>
                        </a:rPr>
                        <a:t>Number of comments on content</a:t>
                      </a:r>
                      <a:r>
                        <a:rPr lang="en-US" sz="1600" b="0" i="0" dirty="0">
                          <a:solidFill>
                            <a:srgbClr val="000000"/>
                          </a:solidFill>
                          <a:effectLst/>
                          <a:latin typeface="Cambria" panose="02040503050406030204" pitchFamily="18" charset="0"/>
                        </a:rPr>
                        <a:t>​</a:t>
                      </a:r>
                      <a:endParaRPr lang="en-US" sz="1600" b="0" i="0" dirty="0">
                        <a:solidFill>
                          <a:srgbClr val="000000"/>
                        </a:solidFill>
                        <a:effectLst/>
                      </a:endParaRPr>
                    </a:p>
                  </a:txBody>
                  <a:tcPr marL="80134" marR="80134" marT="40067" marB="4006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275973287"/>
                  </a:ext>
                </a:extLst>
              </a:tr>
            </a:tbl>
          </a:graphicData>
        </a:graphic>
      </p:graphicFrame>
      <p:sp>
        <p:nvSpPr>
          <p:cNvPr id="6" name="TextBox 5">
            <a:extLst>
              <a:ext uri="{FF2B5EF4-FFF2-40B4-BE49-F238E27FC236}">
                <a16:creationId xmlns:a16="http://schemas.microsoft.com/office/drawing/2014/main" id="{50A8E28C-4120-C295-4E1F-27EE7F52D884}"/>
              </a:ext>
            </a:extLst>
          </p:cNvPr>
          <p:cNvSpPr txBox="1"/>
          <p:nvPr/>
        </p:nvSpPr>
        <p:spPr>
          <a:xfrm>
            <a:off x="3578942" y="336443"/>
            <a:ext cx="6096000" cy="523220"/>
          </a:xfrm>
          <a:prstGeom prst="rect">
            <a:avLst/>
          </a:prstGeom>
          <a:noFill/>
        </p:spPr>
        <p:txBody>
          <a:bodyPr wrap="square">
            <a:spAutoFit/>
          </a:bodyPr>
          <a:lstStyle/>
          <a:p>
            <a:r>
              <a:rPr lang="en-US" sz="2800" b="1" i="0" u="none" strike="noStrike" dirty="0">
                <a:solidFill>
                  <a:srgbClr val="000000"/>
                </a:solidFill>
                <a:effectLst/>
                <a:latin typeface="Cambria" panose="02040503050406030204" pitchFamily="18" charset="0"/>
              </a:rPr>
              <a:t>             Data Availability</a:t>
            </a:r>
            <a:endParaRPr lang="en-IN" sz="2800" dirty="0"/>
          </a:p>
        </p:txBody>
      </p:sp>
    </p:spTree>
    <p:extLst>
      <p:ext uri="{BB962C8B-B14F-4D97-AF65-F5344CB8AC3E}">
        <p14:creationId xmlns:p14="http://schemas.microsoft.com/office/powerpoint/2010/main" val="116161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3466C9A-27C6-62AC-168B-2AE2BEAA9550}"/>
              </a:ext>
            </a:extLst>
          </p:cNvPr>
          <p:cNvGraphicFramePr>
            <a:graphicFrameLocks noGrp="1"/>
          </p:cNvGraphicFramePr>
          <p:nvPr>
            <p:extLst>
              <p:ext uri="{D42A27DB-BD31-4B8C-83A1-F6EECF244321}">
                <p14:modId xmlns:p14="http://schemas.microsoft.com/office/powerpoint/2010/main" val="4029861352"/>
              </p:ext>
            </p:extLst>
          </p:nvPr>
        </p:nvGraphicFramePr>
        <p:xfrm>
          <a:off x="1317523" y="835743"/>
          <a:ext cx="9655277" cy="5308285"/>
        </p:xfrm>
        <a:graphic>
          <a:graphicData uri="http://schemas.openxmlformats.org/drawingml/2006/table">
            <a:tbl>
              <a:tblPr/>
              <a:tblGrid>
                <a:gridCol w="4781755">
                  <a:extLst>
                    <a:ext uri="{9D8B030D-6E8A-4147-A177-3AD203B41FA5}">
                      <a16:colId xmlns:a16="http://schemas.microsoft.com/office/drawing/2014/main" val="4057622885"/>
                    </a:ext>
                  </a:extLst>
                </a:gridCol>
                <a:gridCol w="4873522">
                  <a:extLst>
                    <a:ext uri="{9D8B030D-6E8A-4147-A177-3AD203B41FA5}">
                      <a16:colId xmlns:a16="http://schemas.microsoft.com/office/drawing/2014/main" val="3397080737"/>
                    </a:ext>
                  </a:extLst>
                </a:gridCol>
              </a:tblGrid>
              <a:tr h="350654">
                <a:tc>
                  <a:txBody>
                    <a:bodyPr/>
                    <a:lstStyle/>
                    <a:p>
                      <a:pPr algn="l" rtl="0" fontAlgn="base">
                        <a:lnSpc>
                          <a:spcPts val="1500"/>
                        </a:lnSpc>
                        <a:buNone/>
                      </a:pPr>
                      <a:r>
                        <a:rPr lang="en-US" sz="1700" b="1" i="0">
                          <a:solidFill>
                            <a:srgbClr val="FFFFFF"/>
                          </a:solidFill>
                          <a:effectLst/>
                          <a:latin typeface="Cambria" panose="02040503050406030204" pitchFamily="18" charset="0"/>
                        </a:rPr>
                        <a:t>Columns Name​</a:t>
                      </a:r>
                      <a:endParaRPr lang="en-US" sz="1700" b="1" i="0">
                        <a:solidFill>
                          <a:srgbClr val="FFFFFF"/>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1031" cap="flat" cmpd="sng" algn="ctr">
                      <a:solidFill>
                        <a:srgbClr val="FFFFFF"/>
                      </a:solidFill>
                      <a:prstDash val="solid"/>
                      <a:round/>
                      <a:headEnd type="none" w="med" len="med"/>
                      <a:tailEnd type="none" w="med" len="med"/>
                    </a:lnB>
                    <a:solidFill>
                      <a:srgbClr val="156082"/>
                    </a:solidFill>
                  </a:tcPr>
                </a:tc>
                <a:tc>
                  <a:txBody>
                    <a:bodyPr/>
                    <a:lstStyle/>
                    <a:p>
                      <a:pPr algn="l" rtl="0" fontAlgn="base">
                        <a:lnSpc>
                          <a:spcPts val="1500"/>
                        </a:lnSpc>
                        <a:buNone/>
                      </a:pPr>
                      <a:r>
                        <a:rPr lang="en-US" sz="1700" b="1" i="0">
                          <a:solidFill>
                            <a:srgbClr val="FFFFFF"/>
                          </a:solidFill>
                          <a:effectLst/>
                          <a:latin typeface="Cambria" panose="02040503050406030204" pitchFamily="18" charset="0"/>
                        </a:rPr>
                        <a:t>Description ​</a:t>
                      </a:r>
                      <a:endParaRPr lang="en-US" sz="1700" b="1" i="0">
                        <a:solidFill>
                          <a:srgbClr val="FFFFFF"/>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1031" cap="flat" cmpd="sng" algn="ctr">
                      <a:solidFill>
                        <a:srgbClr val="FFFFFF"/>
                      </a:solidFill>
                      <a:prstDash val="solid"/>
                      <a:round/>
                      <a:headEnd type="none" w="med" len="med"/>
                      <a:tailEnd type="none" w="med" len="med"/>
                    </a:lnB>
                    <a:solidFill>
                      <a:srgbClr val="156082"/>
                    </a:solidFill>
                  </a:tcPr>
                </a:tc>
                <a:extLst>
                  <a:ext uri="{0D108BD9-81ED-4DB2-BD59-A6C34878D82A}">
                    <a16:rowId xmlns:a16="http://schemas.microsoft.com/office/drawing/2014/main" val="2619284244"/>
                  </a:ext>
                </a:extLst>
              </a:tr>
              <a:tr h="350654">
                <a:tc>
                  <a:txBody>
                    <a:bodyPr/>
                    <a:lstStyle/>
                    <a:p>
                      <a:pPr algn="l" rtl="0" fontAlgn="base">
                        <a:lnSpc>
                          <a:spcPts val="1500"/>
                        </a:lnSpc>
                        <a:buNone/>
                      </a:pPr>
                      <a:r>
                        <a:rPr lang="en-US" sz="1700" b="1" i="0">
                          <a:solidFill>
                            <a:srgbClr val="000000"/>
                          </a:solidFill>
                          <a:effectLst/>
                          <a:latin typeface="Aptos" panose="020B0004020202020204" pitchFamily="34" charset="0"/>
                        </a:rPr>
                        <a:t>User Ratings</a:t>
                      </a:r>
                      <a:r>
                        <a:rPr lang="en-US" sz="1700" b="0" i="0">
                          <a:solidFill>
                            <a:srgbClr val="000000"/>
                          </a:solidFill>
                          <a:effectLst/>
                          <a:latin typeface="Aptos" panose="020B0004020202020204" pitchFamily="34"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1031"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rtl="0" fontAlgn="base">
                        <a:lnSpc>
                          <a:spcPts val="1500"/>
                        </a:lnSpc>
                        <a:buNone/>
                      </a:pPr>
                      <a:r>
                        <a:rPr lang="en-US" sz="1700" b="0" i="0" u="none" strike="noStrike">
                          <a:solidFill>
                            <a:srgbClr val="000000"/>
                          </a:solidFill>
                          <a:effectLst/>
                          <a:latin typeface="Aptos" panose="020B0004020202020204" pitchFamily="34" charset="0"/>
                        </a:rPr>
                        <a:t>Average rating given by viewers</a:t>
                      </a:r>
                      <a:r>
                        <a:rPr lang="en-US" sz="1700" b="0" i="0">
                          <a:solidFill>
                            <a:srgbClr val="000000"/>
                          </a:solidFill>
                          <a:effectLst/>
                          <a:latin typeface="Aptos" panose="020B0004020202020204" pitchFamily="34"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1031"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906918108"/>
                  </a:ext>
                </a:extLst>
              </a:tr>
              <a:tr h="548145">
                <a:tc>
                  <a:txBody>
                    <a:bodyPr/>
                    <a:lstStyle/>
                    <a:p>
                      <a:pPr algn="l" rtl="0" fontAlgn="base">
                        <a:lnSpc>
                          <a:spcPts val="1500"/>
                        </a:lnSpc>
                        <a:buNone/>
                      </a:pPr>
                      <a:r>
                        <a:rPr lang="en-US" sz="1700" b="1" i="0">
                          <a:solidFill>
                            <a:srgbClr val="000000"/>
                          </a:solidFill>
                          <a:effectLst/>
                          <a:latin typeface="Cambria" panose="02040503050406030204" pitchFamily="18" charset="0"/>
                        </a:rPr>
                        <a:t>Time of Day</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rtl="0" fontAlgn="base">
                        <a:lnSpc>
                          <a:spcPts val="1500"/>
                        </a:lnSpc>
                        <a:buNone/>
                      </a:pPr>
                      <a:r>
                        <a:rPr lang="en-US" sz="1700" b="0" i="0" u="none" strike="noStrike">
                          <a:solidFill>
                            <a:srgbClr val="000000"/>
                          </a:solidFill>
                          <a:effectLst/>
                          <a:latin typeface="Cambria" panose="02040503050406030204" pitchFamily="18" charset="0"/>
                        </a:rPr>
                        <a:t>When the content is scheduled to be available</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1530555448"/>
                  </a:ext>
                </a:extLst>
              </a:tr>
              <a:tr h="413277">
                <a:tc>
                  <a:txBody>
                    <a:bodyPr/>
                    <a:lstStyle/>
                    <a:p>
                      <a:pPr algn="l" rtl="0" fontAlgn="base">
                        <a:lnSpc>
                          <a:spcPts val="1500"/>
                        </a:lnSpc>
                        <a:buNone/>
                      </a:pPr>
                      <a:r>
                        <a:rPr lang="en-US" sz="1700" b="1" i="0" u="none" strike="noStrike">
                          <a:solidFill>
                            <a:srgbClr val="000000"/>
                          </a:solidFill>
                          <a:effectLst/>
                          <a:latin typeface="Cambria" panose="02040503050406030204" pitchFamily="18" charset="0"/>
                        </a:rPr>
                        <a:t>Day of the Week</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rtl="0" fontAlgn="base">
                        <a:lnSpc>
                          <a:spcPts val="1500"/>
                        </a:lnSpc>
                        <a:buNone/>
                      </a:pPr>
                      <a:r>
                        <a:rPr lang="en-US" sz="1700" b="0" i="0" u="none" strike="noStrike">
                          <a:solidFill>
                            <a:srgbClr val="000000"/>
                          </a:solidFill>
                          <a:effectLst/>
                          <a:latin typeface="Cambria" panose="02040503050406030204" pitchFamily="18" charset="0"/>
                        </a:rPr>
                        <a:t>Scheduled release day</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711701726"/>
                  </a:ext>
                </a:extLst>
              </a:tr>
              <a:tr h="548145">
                <a:tc>
                  <a:txBody>
                    <a:bodyPr/>
                    <a:lstStyle/>
                    <a:p>
                      <a:pPr algn="l" rtl="0" fontAlgn="base">
                        <a:lnSpc>
                          <a:spcPts val="1500"/>
                        </a:lnSpc>
                        <a:buNone/>
                      </a:pPr>
                      <a:r>
                        <a:rPr lang="en-US" sz="1700" b="1" i="0" u="none" strike="noStrike">
                          <a:solidFill>
                            <a:srgbClr val="000000"/>
                          </a:solidFill>
                          <a:effectLst/>
                          <a:latin typeface="Cambria" panose="02040503050406030204" pitchFamily="18" charset="0"/>
                        </a:rPr>
                        <a:t>Viewer Age</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rtl="0" fontAlgn="base">
                        <a:lnSpc>
                          <a:spcPts val="1500"/>
                        </a:lnSpc>
                        <a:buNone/>
                      </a:pPr>
                      <a:r>
                        <a:rPr lang="en-US" sz="1700" b="0" i="0" u="none" strike="noStrike">
                          <a:solidFill>
                            <a:srgbClr val="000000"/>
                          </a:solidFill>
                          <a:effectLst/>
                          <a:latin typeface="Cambria" panose="02040503050406030204" pitchFamily="18" charset="0"/>
                        </a:rPr>
                        <a:t>Age range of viewers watching the content</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246447688"/>
                  </a:ext>
                </a:extLst>
              </a:tr>
              <a:tr h="413277">
                <a:tc>
                  <a:txBody>
                    <a:bodyPr/>
                    <a:lstStyle/>
                    <a:p>
                      <a:pPr algn="l" rtl="0" fontAlgn="base">
                        <a:lnSpc>
                          <a:spcPts val="1500"/>
                        </a:lnSpc>
                        <a:buNone/>
                      </a:pPr>
                      <a:r>
                        <a:rPr lang="en-US" sz="1700" b="1" i="0" u="none" strike="noStrike">
                          <a:solidFill>
                            <a:srgbClr val="000000"/>
                          </a:solidFill>
                          <a:effectLst/>
                          <a:latin typeface="Cambria" panose="02040503050406030204" pitchFamily="18" charset="0"/>
                        </a:rPr>
                        <a:t>Viewer Gender</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rtl="0" fontAlgn="base">
                        <a:lnSpc>
                          <a:spcPts val="1500"/>
                        </a:lnSpc>
                        <a:buNone/>
                      </a:pPr>
                      <a:r>
                        <a:rPr lang="en-US" sz="1700" b="0" i="0" u="none" strike="noStrike">
                          <a:solidFill>
                            <a:srgbClr val="000000"/>
                          </a:solidFill>
                          <a:effectLst/>
                          <a:latin typeface="Cambria" panose="02040503050406030204" pitchFamily="18" charset="0"/>
                        </a:rPr>
                        <a:t>Gender distribution of the viewers</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4216397375"/>
                  </a:ext>
                </a:extLst>
              </a:tr>
              <a:tr h="400748">
                <a:tc>
                  <a:txBody>
                    <a:bodyPr/>
                    <a:lstStyle/>
                    <a:p>
                      <a:pPr algn="l" rtl="0" fontAlgn="base">
                        <a:lnSpc>
                          <a:spcPts val="1500"/>
                        </a:lnSpc>
                        <a:buNone/>
                      </a:pPr>
                      <a:r>
                        <a:rPr lang="en-US" sz="1700" b="1" i="0" u="none" strike="noStrike">
                          <a:solidFill>
                            <a:srgbClr val="000000"/>
                          </a:solidFill>
                          <a:effectLst/>
                          <a:latin typeface="Cambria" panose="02040503050406030204" pitchFamily="18" charset="0"/>
                        </a:rPr>
                        <a:t>Viewer Location</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rtl="0" fontAlgn="base">
                        <a:lnSpc>
                          <a:spcPts val="1500"/>
                        </a:lnSpc>
                        <a:buNone/>
                      </a:pPr>
                      <a:r>
                        <a:rPr lang="en-US" sz="1700" b="0" i="0" u="none" strike="noStrike">
                          <a:solidFill>
                            <a:srgbClr val="000000"/>
                          </a:solidFill>
                          <a:effectLst/>
                          <a:latin typeface="Cambria" panose="02040503050406030204" pitchFamily="18" charset="0"/>
                        </a:rPr>
                        <a:t>Geographic location of the viewers</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2096338790"/>
                  </a:ext>
                </a:extLst>
              </a:tr>
              <a:tr h="350654">
                <a:tc>
                  <a:txBody>
                    <a:bodyPr/>
                    <a:lstStyle/>
                    <a:p>
                      <a:pPr algn="l" rtl="0" fontAlgn="base">
                        <a:lnSpc>
                          <a:spcPts val="1500"/>
                        </a:lnSpc>
                        <a:buNone/>
                      </a:pPr>
                      <a:r>
                        <a:rPr lang="en-US" sz="1700" b="1" i="0" u="none" strike="noStrike">
                          <a:solidFill>
                            <a:srgbClr val="000000"/>
                          </a:solidFill>
                          <a:effectLst/>
                          <a:latin typeface="Cambria" panose="02040503050406030204" pitchFamily="18" charset="0"/>
                        </a:rPr>
                        <a:t>Seasonality</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rtl="0" fontAlgn="base">
                        <a:lnSpc>
                          <a:spcPts val="1500"/>
                        </a:lnSpc>
                        <a:buNone/>
                      </a:pPr>
                      <a:r>
                        <a:rPr lang="en-US" sz="1700" b="0" i="0" u="none" strike="noStrike">
                          <a:solidFill>
                            <a:srgbClr val="000000"/>
                          </a:solidFill>
                          <a:effectLst/>
                          <a:latin typeface="Cambria" panose="02040503050406030204" pitchFamily="18" charset="0"/>
                        </a:rPr>
                        <a:t>Trends related to holidays/events</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390728854"/>
                  </a:ext>
                </a:extLst>
              </a:tr>
              <a:tr h="450841">
                <a:tc>
                  <a:txBody>
                    <a:bodyPr/>
                    <a:lstStyle/>
                    <a:p>
                      <a:pPr algn="l" rtl="0" fontAlgn="base">
                        <a:lnSpc>
                          <a:spcPts val="1500"/>
                        </a:lnSpc>
                        <a:buNone/>
                      </a:pPr>
                      <a:r>
                        <a:rPr lang="en-US" sz="1700" b="1" i="0" u="none" strike="noStrike">
                          <a:solidFill>
                            <a:srgbClr val="000000"/>
                          </a:solidFill>
                          <a:effectLst/>
                          <a:latin typeface="Cambria" panose="02040503050406030204" pitchFamily="18" charset="0"/>
                        </a:rPr>
                        <a:t>Content Popularity</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rtl="0" fontAlgn="base">
                        <a:lnSpc>
                          <a:spcPts val="1500"/>
                        </a:lnSpc>
                        <a:buNone/>
                      </a:pPr>
                      <a:r>
                        <a:rPr lang="en-US" sz="1700" b="0" i="0" u="none" strike="noStrike">
                          <a:solidFill>
                            <a:srgbClr val="000000"/>
                          </a:solidFill>
                          <a:effectLst/>
                          <a:latin typeface="Cambria" panose="02040503050406030204" pitchFamily="18" charset="0"/>
                        </a:rPr>
                        <a:t>Historical performance metrics</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2487180646"/>
                  </a:ext>
                </a:extLst>
              </a:tr>
              <a:tr h="588600">
                <a:tc>
                  <a:txBody>
                    <a:bodyPr/>
                    <a:lstStyle/>
                    <a:p>
                      <a:pPr algn="l" rtl="0" fontAlgn="base">
                        <a:lnSpc>
                          <a:spcPts val="1500"/>
                        </a:lnSpc>
                        <a:buNone/>
                      </a:pPr>
                      <a:r>
                        <a:rPr lang="en-US" sz="1700" b="1" i="0" u="none" strike="noStrike">
                          <a:solidFill>
                            <a:srgbClr val="000000"/>
                          </a:solidFill>
                          <a:effectLst/>
                          <a:latin typeface="Cambria" panose="02040503050406030204" pitchFamily="18" charset="0"/>
                        </a:rPr>
                        <a:t>Competitor Content</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rtl="0" fontAlgn="base">
                        <a:lnSpc>
                          <a:spcPts val="1500"/>
                        </a:lnSpc>
                        <a:buNone/>
                      </a:pPr>
                      <a:r>
                        <a:rPr lang="en-US" sz="1700" b="0" i="0" u="none" strike="noStrike">
                          <a:solidFill>
                            <a:srgbClr val="000000"/>
                          </a:solidFill>
                          <a:effectLst/>
                          <a:latin typeface="Cambria" panose="02040503050406030204" pitchFamily="18" charset="0"/>
                        </a:rPr>
                        <a:t>Performance of similar content on other platforms</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415161196"/>
                  </a:ext>
                </a:extLst>
              </a:tr>
              <a:tr h="345145">
                <a:tc>
                  <a:txBody>
                    <a:bodyPr/>
                    <a:lstStyle/>
                    <a:p>
                      <a:pPr algn="l" rtl="0" fontAlgn="base">
                        <a:lnSpc>
                          <a:spcPts val="1500"/>
                        </a:lnSpc>
                        <a:buNone/>
                      </a:pPr>
                      <a:r>
                        <a:rPr lang="en-US" sz="1700" b="1" i="0" u="none" strike="noStrike">
                          <a:solidFill>
                            <a:srgbClr val="000000"/>
                          </a:solidFill>
                          <a:effectLst/>
                          <a:latin typeface="Cambria" panose="02040503050406030204" pitchFamily="18" charset="0"/>
                        </a:rPr>
                        <a:t>Promotion Data</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rtl="0" fontAlgn="base">
                        <a:lnSpc>
                          <a:spcPts val="1500"/>
                        </a:lnSpc>
                        <a:buNone/>
                      </a:pPr>
                      <a:r>
                        <a:rPr lang="en-US" sz="1700" b="0" i="0" u="none" strike="noStrike">
                          <a:solidFill>
                            <a:srgbClr val="000000"/>
                          </a:solidFill>
                          <a:effectLst/>
                          <a:latin typeface="Cambria" panose="02040503050406030204" pitchFamily="18" charset="0"/>
                        </a:rPr>
                        <a:t>Information on marketing efforts</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2697236015"/>
                  </a:ext>
                </a:extLst>
              </a:tr>
              <a:tr h="548145">
                <a:tc>
                  <a:txBody>
                    <a:bodyPr/>
                    <a:lstStyle/>
                    <a:p>
                      <a:pPr algn="l" rtl="0" fontAlgn="base">
                        <a:lnSpc>
                          <a:spcPts val="1500"/>
                        </a:lnSpc>
                        <a:buNone/>
                      </a:pPr>
                      <a:r>
                        <a:rPr lang="en-US" sz="1700" b="1" i="0" u="none" strike="noStrike">
                          <a:solidFill>
                            <a:srgbClr val="000000"/>
                          </a:solidFill>
                          <a:effectLst/>
                          <a:latin typeface="Cambria" panose="02040503050406030204" pitchFamily="18" charset="0"/>
                        </a:rPr>
                        <a:t>Subscription Data</a:t>
                      </a:r>
                      <a:r>
                        <a:rPr lang="en-US" sz="1700" b="0" i="0">
                          <a:solidFill>
                            <a:srgbClr val="000000"/>
                          </a:solidFill>
                          <a:effectLst/>
                          <a:latin typeface="Cambria" panose="02040503050406030204" pitchFamily="18" charset="0"/>
                        </a:rPr>
                        <a:t>​</a:t>
                      </a:r>
                      <a:endParaRPr lang="en-US" sz="1700" b="0" i="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rtl="0" fontAlgn="base">
                        <a:lnSpc>
                          <a:spcPts val="1500"/>
                        </a:lnSpc>
                        <a:buNone/>
                      </a:pPr>
                      <a:r>
                        <a:rPr lang="en-US" sz="1700" b="0" i="0" u="none" strike="noStrike" dirty="0">
                          <a:solidFill>
                            <a:srgbClr val="000000"/>
                          </a:solidFill>
                          <a:effectLst/>
                          <a:latin typeface="Cambria" panose="02040503050406030204" pitchFamily="18" charset="0"/>
                        </a:rPr>
                        <a:t>Active subscriber behavior and viewing trends</a:t>
                      </a:r>
                      <a:r>
                        <a:rPr lang="en-US" sz="1700" b="0" i="0" dirty="0">
                          <a:solidFill>
                            <a:srgbClr val="000000"/>
                          </a:solidFill>
                          <a:effectLst/>
                          <a:latin typeface="Cambria" panose="02040503050406030204" pitchFamily="18" charset="0"/>
                        </a:rPr>
                        <a:t>​</a:t>
                      </a:r>
                      <a:endParaRPr lang="en-US" sz="1700" b="0" i="0" dirty="0">
                        <a:solidFill>
                          <a:srgbClr val="000000"/>
                        </a:solidFill>
                        <a:effectLst/>
                      </a:endParaRPr>
                    </a:p>
                  </a:txBody>
                  <a:tcPr marL="85114" marR="85114" marT="42557" marB="42557">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583814308"/>
                  </a:ext>
                </a:extLst>
              </a:tr>
            </a:tbl>
          </a:graphicData>
        </a:graphic>
      </p:graphicFrame>
    </p:spTree>
    <p:extLst>
      <p:ext uri="{BB962C8B-B14F-4D97-AF65-F5344CB8AC3E}">
        <p14:creationId xmlns:p14="http://schemas.microsoft.com/office/powerpoint/2010/main" val="564699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83D712-197E-B68C-0413-9AD59BD9509E}"/>
              </a:ext>
            </a:extLst>
          </p:cNvPr>
          <p:cNvSpPr txBox="1"/>
          <p:nvPr/>
        </p:nvSpPr>
        <p:spPr>
          <a:xfrm>
            <a:off x="3048000" y="513424"/>
            <a:ext cx="6096000" cy="646331"/>
          </a:xfrm>
          <a:prstGeom prst="rect">
            <a:avLst/>
          </a:prstGeom>
          <a:noFill/>
        </p:spPr>
        <p:txBody>
          <a:bodyPr wrap="square">
            <a:spAutoFit/>
          </a:bodyPr>
          <a:lstStyle/>
          <a:p>
            <a:r>
              <a:rPr lang="en-US" sz="2400" b="1" i="0" u="none" strike="noStrike" dirty="0">
                <a:effectLst/>
                <a:latin typeface="Cy Grotesk Key Bold"/>
              </a:rPr>
              <a:t>                   </a:t>
            </a:r>
            <a:r>
              <a:rPr lang="en-US" sz="3600" b="1" i="0" u="sng" strike="noStrike" dirty="0">
                <a:solidFill>
                  <a:schemeClr val="accent5">
                    <a:lumMod val="50000"/>
                  </a:schemeClr>
                </a:solidFill>
                <a:effectLst/>
                <a:latin typeface="Mongolian Baiti" panose="03000500000000000000" pitchFamily="66" charset="0"/>
                <a:cs typeface="Mongolian Baiti" panose="03000500000000000000" pitchFamily="66" charset="0"/>
              </a:rPr>
              <a:t>Descriptive Analysis</a:t>
            </a:r>
            <a:r>
              <a:rPr lang="en-US" sz="2800" b="0" i="0" dirty="0">
                <a:solidFill>
                  <a:srgbClr val="000000"/>
                </a:solidFill>
                <a:effectLst/>
                <a:latin typeface="Cy Grotesk Key Bold"/>
              </a:rPr>
              <a:t>​</a:t>
            </a:r>
            <a:endParaRPr lang="en-IN" sz="2800" dirty="0"/>
          </a:p>
        </p:txBody>
      </p:sp>
      <p:sp>
        <p:nvSpPr>
          <p:cNvPr id="5" name="TextBox 4">
            <a:extLst>
              <a:ext uri="{FF2B5EF4-FFF2-40B4-BE49-F238E27FC236}">
                <a16:creationId xmlns:a16="http://schemas.microsoft.com/office/drawing/2014/main" id="{8450C643-7BD1-DAB7-A651-325CD472E7D2}"/>
              </a:ext>
            </a:extLst>
          </p:cNvPr>
          <p:cNvSpPr txBox="1"/>
          <p:nvPr/>
        </p:nvSpPr>
        <p:spPr>
          <a:xfrm>
            <a:off x="403122" y="1181603"/>
            <a:ext cx="3051374" cy="646331"/>
          </a:xfrm>
          <a:prstGeom prst="rect">
            <a:avLst/>
          </a:prstGeom>
          <a:noFill/>
        </p:spPr>
        <p:txBody>
          <a:bodyPr wrap="square">
            <a:spAutoFit/>
          </a:bodyPr>
          <a:lstStyle/>
          <a:p>
            <a:pPr algn="l" rtl="0" fontAlgn="base"/>
            <a:r>
              <a:rPr lang="en-US" sz="1800" b="1" i="1" u="none" strike="noStrike" dirty="0">
                <a:solidFill>
                  <a:srgbClr val="000000"/>
                </a:solidFill>
                <a:effectLst/>
                <a:latin typeface="Sitka Display Semibold" pitchFamily="2" charset="0"/>
              </a:rPr>
              <a:t>What are the top 10 most</a:t>
            </a:r>
          </a:p>
          <a:p>
            <a:pPr algn="l" rtl="0" fontAlgn="base"/>
            <a:r>
              <a:rPr lang="en-US" sz="1800" b="1" i="1" u="none" strike="noStrike" dirty="0">
                <a:solidFill>
                  <a:srgbClr val="000000"/>
                </a:solidFill>
                <a:effectLst/>
                <a:latin typeface="Sitka Display Semibold" pitchFamily="2" charset="0"/>
              </a:rPr>
              <a:t>viewed content pieces overall</a:t>
            </a:r>
            <a:r>
              <a:rPr lang="en-US" sz="1800" b="0" i="0" u="none" strike="noStrike" dirty="0">
                <a:solidFill>
                  <a:srgbClr val="000000"/>
                </a:solidFill>
                <a:effectLst/>
                <a:latin typeface="Times New Roman" panose="02020603050405020304" pitchFamily="18" charset="0"/>
              </a:rPr>
              <a:t>?</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p:txBody>
      </p:sp>
      <p:pic>
        <p:nvPicPr>
          <p:cNvPr id="7" name="Picture 6">
            <a:extLst>
              <a:ext uri="{FF2B5EF4-FFF2-40B4-BE49-F238E27FC236}">
                <a16:creationId xmlns:a16="http://schemas.microsoft.com/office/drawing/2014/main" id="{7CB62102-595A-D2FB-2353-1857046C198E}"/>
              </a:ext>
            </a:extLst>
          </p:cNvPr>
          <p:cNvPicPr>
            <a:picLocks noChangeAspect="1"/>
          </p:cNvPicPr>
          <p:nvPr/>
        </p:nvPicPr>
        <p:blipFill>
          <a:blip r:embed="rId2"/>
          <a:stretch>
            <a:fillRect/>
          </a:stretch>
        </p:blipFill>
        <p:spPr>
          <a:xfrm>
            <a:off x="501446" y="2004085"/>
            <a:ext cx="2114845" cy="3972479"/>
          </a:xfrm>
          <a:prstGeom prst="rect">
            <a:avLst/>
          </a:prstGeom>
        </p:spPr>
      </p:pic>
      <p:sp>
        <p:nvSpPr>
          <p:cNvPr id="9" name="TextBox 8">
            <a:extLst>
              <a:ext uri="{FF2B5EF4-FFF2-40B4-BE49-F238E27FC236}">
                <a16:creationId xmlns:a16="http://schemas.microsoft.com/office/drawing/2014/main" id="{798B83FB-88B7-B225-5D91-787232CC7F61}"/>
              </a:ext>
            </a:extLst>
          </p:cNvPr>
          <p:cNvSpPr txBox="1"/>
          <p:nvPr/>
        </p:nvSpPr>
        <p:spPr>
          <a:xfrm>
            <a:off x="4188540" y="1182018"/>
            <a:ext cx="2871019" cy="646331"/>
          </a:xfrm>
          <a:prstGeom prst="rect">
            <a:avLst/>
          </a:prstGeom>
          <a:noFill/>
        </p:spPr>
        <p:txBody>
          <a:bodyPr wrap="square">
            <a:spAutoFit/>
          </a:bodyPr>
          <a:lstStyle/>
          <a:p>
            <a:pPr fontAlgn="base"/>
            <a:r>
              <a:rPr lang="en-US" b="1" i="1" dirty="0">
                <a:solidFill>
                  <a:srgbClr val="000000"/>
                </a:solidFill>
                <a:latin typeface="Sitka Display Semibold" pitchFamily="2" charset="0"/>
              </a:rPr>
              <a:t>What are the most-watched</a:t>
            </a:r>
          </a:p>
          <a:p>
            <a:pPr fontAlgn="base"/>
            <a:r>
              <a:rPr lang="en-US" b="1" i="1" dirty="0">
                <a:solidFill>
                  <a:srgbClr val="000000"/>
                </a:solidFill>
                <a:latin typeface="Sitka Display Semibold" pitchFamily="2" charset="0"/>
              </a:rPr>
              <a:t> genres in each region?​</a:t>
            </a:r>
          </a:p>
        </p:txBody>
      </p:sp>
      <p:pic>
        <p:nvPicPr>
          <p:cNvPr id="11" name="Picture 10">
            <a:extLst>
              <a:ext uri="{FF2B5EF4-FFF2-40B4-BE49-F238E27FC236}">
                <a16:creationId xmlns:a16="http://schemas.microsoft.com/office/drawing/2014/main" id="{713DC730-EA93-D921-58F3-8E11BD01B319}"/>
              </a:ext>
            </a:extLst>
          </p:cNvPr>
          <p:cNvPicPr>
            <a:picLocks noChangeAspect="1"/>
          </p:cNvPicPr>
          <p:nvPr/>
        </p:nvPicPr>
        <p:blipFill>
          <a:blip r:embed="rId3"/>
          <a:stretch>
            <a:fillRect/>
          </a:stretch>
        </p:blipFill>
        <p:spPr>
          <a:xfrm>
            <a:off x="3454495" y="2035278"/>
            <a:ext cx="4496427" cy="3941286"/>
          </a:xfrm>
          <a:prstGeom prst="rect">
            <a:avLst/>
          </a:prstGeom>
        </p:spPr>
      </p:pic>
      <p:sp>
        <p:nvSpPr>
          <p:cNvPr id="13" name="TextBox 12">
            <a:extLst>
              <a:ext uri="{FF2B5EF4-FFF2-40B4-BE49-F238E27FC236}">
                <a16:creationId xmlns:a16="http://schemas.microsoft.com/office/drawing/2014/main" id="{F04DEE40-2949-3330-4052-2B33D45F1F8A}"/>
              </a:ext>
            </a:extLst>
          </p:cNvPr>
          <p:cNvSpPr txBox="1"/>
          <p:nvPr/>
        </p:nvSpPr>
        <p:spPr>
          <a:xfrm>
            <a:off x="8804944" y="1182018"/>
            <a:ext cx="2871019" cy="646331"/>
          </a:xfrm>
          <a:prstGeom prst="rect">
            <a:avLst/>
          </a:prstGeom>
          <a:noFill/>
        </p:spPr>
        <p:txBody>
          <a:bodyPr wrap="square">
            <a:spAutoFit/>
          </a:bodyPr>
          <a:lstStyle/>
          <a:p>
            <a:pPr fontAlgn="base"/>
            <a:r>
              <a:rPr lang="en-US" b="1" i="1" dirty="0">
                <a:solidFill>
                  <a:srgbClr val="000000"/>
                </a:solidFill>
                <a:latin typeface="Sitka Display Semibold" pitchFamily="2" charset="0"/>
              </a:rPr>
              <a:t>Which genre has the highest </a:t>
            </a:r>
          </a:p>
          <a:p>
            <a:pPr fontAlgn="base"/>
            <a:r>
              <a:rPr lang="en-US" b="1" i="1" dirty="0">
                <a:solidFill>
                  <a:srgbClr val="000000"/>
                </a:solidFill>
                <a:latin typeface="Sitka Display Semibold" pitchFamily="2" charset="0"/>
              </a:rPr>
              <a:t>average watch time?​</a:t>
            </a:r>
          </a:p>
        </p:txBody>
      </p:sp>
      <p:pic>
        <p:nvPicPr>
          <p:cNvPr id="15" name="Picture 14">
            <a:extLst>
              <a:ext uri="{FF2B5EF4-FFF2-40B4-BE49-F238E27FC236}">
                <a16:creationId xmlns:a16="http://schemas.microsoft.com/office/drawing/2014/main" id="{FEB046D7-A7E5-82C8-A108-F26EE9D6863C}"/>
              </a:ext>
            </a:extLst>
          </p:cNvPr>
          <p:cNvPicPr>
            <a:picLocks noChangeAspect="1"/>
          </p:cNvPicPr>
          <p:nvPr/>
        </p:nvPicPr>
        <p:blipFill>
          <a:blip r:embed="rId4"/>
          <a:stretch>
            <a:fillRect/>
          </a:stretch>
        </p:blipFill>
        <p:spPr>
          <a:xfrm>
            <a:off x="8804944" y="2035278"/>
            <a:ext cx="2525662" cy="3941286"/>
          </a:xfrm>
          <a:prstGeom prst="rect">
            <a:avLst/>
          </a:prstGeom>
        </p:spPr>
      </p:pic>
    </p:spTree>
    <p:extLst>
      <p:ext uri="{BB962C8B-B14F-4D97-AF65-F5344CB8AC3E}">
        <p14:creationId xmlns:p14="http://schemas.microsoft.com/office/powerpoint/2010/main" val="1606509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CEF5D5-A407-CC4D-E798-6132A49AE5D6}"/>
              </a:ext>
            </a:extLst>
          </p:cNvPr>
          <p:cNvSpPr txBox="1"/>
          <p:nvPr/>
        </p:nvSpPr>
        <p:spPr>
          <a:xfrm>
            <a:off x="530942" y="759230"/>
            <a:ext cx="3038168" cy="646331"/>
          </a:xfrm>
          <a:prstGeom prst="rect">
            <a:avLst/>
          </a:prstGeom>
          <a:noFill/>
        </p:spPr>
        <p:txBody>
          <a:bodyPr wrap="square">
            <a:spAutoFit/>
          </a:bodyPr>
          <a:lstStyle/>
          <a:p>
            <a:pPr fontAlgn="base"/>
            <a:r>
              <a:rPr lang="en-US" b="1" i="1" dirty="0">
                <a:solidFill>
                  <a:srgbClr val="000000"/>
                </a:solidFill>
                <a:latin typeface="Sitka Display Semibold" pitchFamily="2" charset="0"/>
              </a:rPr>
              <a:t>What time of day has the</a:t>
            </a:r>
          </a:p>
          <a:p>
            <a:pPr fontAlgn="base"/>
            <a:r>
              <a:rPr lang="en-US" b="1" i="1" dirty="0">
                <a:solidFill>
                  <a:srgbClr val="000000"/>
                </a:solidFill>
                <a:latin typeface="Sitka Display Semibold" pitchFamily="2" charset="0"/>
              </a:rPr>
              <a:t>highest viewer engagement?</a:t>
            </a:r>
            <a:endParaRPr lang="en-IN" b="1" i="1" dirty="0">
              <a:solidFill>
                <a:srgbClr val="000000"/>
              </a:solidFill>
              <a:latin typeface="Sitka Display Semibold" pitchFamily="2" charset="0"/>
            </a:endParaRPr>
          </a:p>
        </p:txBody>
      </p:sp>
      <p:pic>
        <p:nvPicPr>
          <p:cNvPr id="5" name="Picture 4">
            <a:extLst>
              <a:ext uri="{FF2B5EF4-FFF2-40B4-BE49-F238E27FC236}">
                <a16:creationId xmlns:a16="http://schemas.microsoft.com/office/drawing/2014/main" id="{2A982827-03AC-EE77-56B9-0595D77EBA35}"/>
              </a:ext>
            </a:extLst>
          </p:cNvPr>
          <p:cNvPicPr>
            <a:picLocks noChangeAspect="1"/>
          </p:cNvPicPr>
          <p:nvPr/>
        </p:nvPicPr>
        <p:blipFill>
          <a:blip r:embed="rId2"/>
          <a:stretch>
            <a:fillRect/>
          </a:stretch>
        </p:blipFill>
        <p:spPr>
          <a:xfrm>
            <a:off x="8197842" y="653710"/>
            <a:ext cx="3126657" cy="857370"/>
          </a:xfrm>
          <a:prstGeom prst="rect">
            <a:avLst/>
          </a:prstGeom>
        </p:spPr>
      </p:pic>
      <p:sp>
        <p:nvSpPr>
          <p:cNvPr id="6" name="Arrow: Right 5">
            <a:extLst>
              <a:ext uri="{FF2B5EF4-FFF2-40B4-BE49-F238E27FC236}">
                <a16:creationId xmlns:a16="http://schemas.microsoft.com/office/drawing/2014/main" id="{F0425BEA-B525-4EF0-240B-8F6E87E8D4BC}"/>
              </a:ext>
            </a:extLst>
          </p:cNvPr>
          <p:cNvSpPr/>
          <p:nvPr/>
        </p:nvSpPr>
        <p:spPr>
          <a:xfrm>
            <a:off x="5063613" y="976876"/>
            <a:ext cx="1160206" cy="1538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F3945776-BCA7-20B5-19FF-81544DBCFF43}"/>
              </a:ext>
            </a:extLst>
          </p:cNvPr>
          <p:cNvSpPr txBox="1"/>
          <p:nvPr/>
        </p:nvSpPr>
        <p:spPr>
          <a:xfrm>
            <a:off x="530942" y="2085510"/>
            <a:ext cx="3126659" cy="646331"/>
          </a:xfrm>
          <a:prstGeom prst="rect">
            <a:avLst/>
          </a:prstGeom>
          <a:noFill/>
        </p:spPr>
        <p:txBody>
          <a:bodyPr wrap="square">
            <a:spAutoFit/>
          </a:bodyPr>
          <a:lstStyle/>
          <a:p>
            <a:pPr fontAlgn="base"/>
            <a:r>
              <a:rPr lang="en-US" b="1" i="1" dirty="0">
                <a:solidFill>
                  <a:srgbClr val="000000"/>
                </a:solidFill>
                <a:latin typeface="Sitka Display Semibold" pitchFamily="2" charset="0"/>
              </a:rPr>
              <a:t>Which days of the week drive</a:t>
            </a:r>
          </a:p>
          <a:p>
            <a:pPr fontAlgn="base"/>
            <a:r>
              <a:rPr lang="en-US" b="1" i="1" dirty="0">
                <a:solidFill>
                  <a:srgbClr val="000000"/>
                </a:solidFill>
                <a:latin typeface="Sitka Display Semibold" pitchFamily="2" charset="0"/>
              </a:rPr>
              <a:t>the most views?​</a:t>
            </a:r>
          </a:p>
        </p:txBody>
      </p:sp>
      <p:pic>
        <p:nvPicPr>
          <p:cNvPr id="10" name="Picture 9">
            <a:extLst>
              <a:ext uri="{FF2B5EF4-FFF2-40B4-BE49-F238E27FC236}">
                <a16:creationId xmlns:a16="http://schemas.microsoft.com/office/drawing/2014/main" id="{01FBD78B-7750-2982-2E1C-29A06829A8F8}"/>
              </a:ext>
            </a:extLst>
          </p:cNvPr>
          <p:cNvPicPr>
            <a:picLocks noChangeAspect="1"/>
          </p:cNvPicPr>
          <p:nvPr/>
        </p:nvPicPr>
        <p:blipFill>
          <a:blip r:embed="rId3"/>
          <a:stretch>
            <a:fillRect/>
          </a:stretch>
        </p:blipFill>
        <p:spPr>
          <a:xfrm>
            <a:off x="8197840" y="1994281"/>
            <a:ext cx="3126659" cy="828791"/>
          </a:xfrm>
          <a:prstGeom prst="rect">
            <a:avLst/>
          </a:prstGeom>
        </p:spPr>
      </p:pic>
      <p:sp>
        <p:nvSpPr>
          <p:cNvPr id="11" name="Arrow: Right 10">
            <a:extLst>
              <a:ext uri="{FF2B5EF4-FFF2-40B4-BE49-F238E27FC236}">
                <a16:creationId xmlns:a16="http://schemas.microsoft.com/office/drawing/2014/main" id="{079EC991-929A-40B8-D55E-AEEE42AF9C63}"/>
              </a:ext>
            </a:extLst>
          </p:cNvPr>
          <p:cNvSpPr/>
          <p:nvPr/>
        </p:nvSpPr>
        <p:spPr>
          <a:xfrm>
            <a:off x="5063613" y="2408677"/>
            <a:ext cx="1160206" cy="1538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348C6539-CD08-49A9-83BF-6BA91BD68EFD}"/>
              </a:ext>
            </a:extLst>
          </p:cNvPr>
          <p:cNvSpPr txBox="1"/>
          <p:nvPr/>
        </p:nvSpPr>
        <p:spPr>
          <a:xfrm>
            <a:off x="530942" y="3525994"/>
            <a:ext cx="3834581" cy="923330"/>
          </a:xfrm>
          <a:prstGeom prst="rect">
            <a:avLst/>
          </a:prstGeom>
          <a:noFill/>
        </p:spPr>
        <p:txBody>
          <a:bodyPr wrap="square">
            <a:spAutoFit/>
          </a:bodyPr>
          <a:lstStyle/>
          <a:p>
            <a:pPr fontAlgn="base"/>
            <a:r>
              <a:rPr lang="en-US" b="1" i="1" dirty="0">
                <a:solidFill>
                  <a:srgbClr val="000000"/>
                </a:solidFill>
                <a:latin typeface="Sitka Display Semibold" pitchFamily="2" charset="0"/>
              </a:rPr>
              <a:t>What is the average user rating </a:t>
            </a:r>
          </a:p>
          <a:p>
            <a:pPr fontAlgn="base"/>
            <a:r>
              <a:rPr lang="en-US" b="1" i="1" dirty="0">
                <a:solidFill>
                  <a:srgbClr val="000000"/>
                </a:solidFill>
                <a:latin typeface="Sitka Display Semibold" pitchFamily="2" charset="0"/>
              </a:rPr>
              <a:t>for different content types (Movies vs Series)?​</a:t>
            </a:r>
          </a:p>
        </p:txBody>
      </p:sp>
      <p:sp>
        <p:nvSpPr>
          <p:cNvPr id="14" name="Arrow: Right 13">
            <a:extLst>
              <a:ext uri="{FF2B5EF4-FFF2-40B4-BE49-F238E27FC236}">
                <a16:creationId xmlns:a16="http://schemas.microsoft.com/office/drawing/2014/main" id="{D4C3A203-AF37-08A0-32C8-D143EB4E8273}"/>
              </a:ext>
            </a:extLst>
          </p:cNvPr>
          <p:cNvSpPr/>
          <p:nvPr/>
        </p:nvSpPr>
        <p:spPr>
          <a:xfrm>
            <a:off x="5063613" y="3763561"/>
            <a:ext cx="1160206" cy="1538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6" name="Picture 15">
            <a:extLst>
              <a:ext uri="{FF2B5EF4-FFF2-40B4-BE49-F238E27FC236}">
                <a16:creationId xmlns:a16="http://schemas.microsoft.com/office/drawing/2014/main" id="{508D8DF8-A10C-0397-FDDF-0F247D6E59B1}"/>
              </a:ext>
            </a:extLst>
          </p:cNvPr>
          <p:cNvPicPr>
            <a:picLocks noChangeAspect="1"/>
          </p:cNvPicPr>
          <p:nvPr/>
        </p:nvPicPr>
        <p:blipFill>
          <a:blip r:embed="rId4"/>
          <a:stretch>
            <a:fillRect/>
          </a:stretch>
        </p:blipFill>
        <p:spPr>
          <a:xfrm>
            <a:off x="8197840" y="3228960"/>
            <a:ext cx="3126659" cy="1262945"/>
          </a:xfrm>
          <a:prstGeom prst="rect">
            <a:avLst/>
          </a:prstGeom>
        </p:spPr>
      </p:pic>
      <p:sp>
        <p:nvSpPr>
          <p:cNvPr id="18" name="TextBox 17">
            <a:extLst>
              <a:ext uri="{FF2B5EF4-FFF2-40B4-BE49-F238E27FC236}">
                <a16:creationId xmlns:a16="http://schemas.microsoft.com/office/drawing/2014/main" id="{774D7CF0-6DAE-C37D-9593-88BD3A556F95}"/>
              </a:ext>
            </a:extLst>
          </p:cNvPr>
          <p:cNvSpPr txBox="1"/>
          <p:nvPr/>
        </p:nvSpPr>
        <p:spPr>
          <a:xfrm>
            <a:off x="530942" y="5004043"/>
            <a:ext cx="3834581" cy="923330"/>
          </a:xfrm>
          <a:prstGeom prst="rect">
            <a:avLst/>
          </a:prstGeom>
          <a:noFill/>
        </p:spPr>
        <p:txBody>
          <a:bodyPr wrap="square">
            <a:spAutoFit/>
          </a:bodyPr>
          <a:lstStyle/>
          <a:p>
            <a:pPr fontAlgn="base"/>
            <a:r>
              <a:rPr lang="en-US" b="1" i="1" dirty="0">
                <a:solidFill>
                  <a:srgbClr val="000000"/>
                </a:solidFill>
                <a:latin typeface="Sitka Display Semibold" pitchFamily="2" charset="0"/>
              </a:rPr>
              <a:t>How many likes, shares, and comments are generated per content type?​</a:t>
            </a:r>
          </a:p>
        </p:txBody>
      </p:sp>
      <p:sp>
        <p:nvSpPr>
          <p:cNvPr id="19" name="Arrow: Right 18">
            <a:extLst>
              <a:ext uri="{FF2B5EF4-FFF2-40B4-BE49-F238E27FC236}">
                <a16:creationId xmlns:a16="http://schemas.microsoft.com/office/drawing/2014/main" id="{B0D494D0-CFF3-AE75-EB2B-298CE8C5CB4B}"/>
              </a:ext>
            </a:extLst>
          </p:cNvPr>
          <p:cNvSpPr/>
          <p:nvPr/>
        </p:nvSpPr>
        <p:spPr>
          <a:xfrm>
            <a:off x="5063613" y="5173374"/>
            <a:ext cx="1160206" cy="1538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3" name="Picture 22">
            <a:extLst>
              <a:ext uri="{FF2B5EF4-FFF2-40B4-BE49-F238E27FC236}">
                <a16:creationId xmlns:a16="http://schemas.microsoft.com/office/drawing/2014/main" id="{1C0A8C3D-15D2-729C-0F11-136938F08B9F}"/>
              </a:ext>
            </a:extLst>
          </p:cNvPr>
          <p:cNvPicPr>
            <a:picLocks noChangeAspect="1"/>
          </p:cNvPicPr>
          <p:nvPr/>
        </p:nvPicPr>
        <p:blipFill>
          <a:blip r:embed="rId5"/>
          <a:stretch>
            <a:fillRect/>
          </a:stretch>
        </p:blipFill>
        <p:spPr>
          <a:xfrm>
            <a:off x="8197840" y="4897794"/>
            <a:ext cx="3126659" cy="1505160"/>
          </a:xfrm>
          <a:prstGeom prst="rect">
            <a:avLst/>
          </a:prstGeom>
        </p:spPr>
      </p:pic>
    </p:spTree>
    <p:extLst>
      <p:ext uri="{BB962C8B-B14F-4D97-AF65-F5344CB8AC3E}">
        <p14:creationId xmlns:p14="http://schemas.microsoft.com/office/powerpoint/2010/main" val="847628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046700-DF75-D85E-CD79-2E6EDF23C523}"/>
              </a:ext>
            </a:extLst>
          </p:cNvPr>
          <p:cNvSpPr txBox="1"/>
          <p:nvPr/>
        </p:nvSpPr>
        <p:spPr>
          <a:xfrm>
            <a:off x="3824748" y="562585"/>
            <a:ext cx="4847304" cy="646331"/>
          </a:xfrm>
          <a:prstGeom prst="rect">
            <a:avLst/>
          </a:prstGeom>
          <a:noFill/>
        </p:spPr>
        <p:txBody>
          <a:bodyPr wrap="square">
            <a:spAutoFit/>
          </a:bodyPr>
          <a:lstStyle/>
          <a:p>
            <a:r>
              <a:rPr lang="en-US" sz="2800" b="1" dirty="0">
                <a:latin typeface="Mongolian Baiti" panose="03000500000000000000" pitchFamily="66" charset="0"/>
                <a:cs typeface="Mongolian Baiti" panose="03000500000000000000" pitchFamily="66" charset="0"/>
              </a:rPr>
              <a:t>    </a:t>
            </a:r>
            <a:r>
              <a:rPr lang="en-US" sz="3600" b="1" u="sng" dirty="0">
                <a:solidFill>
                  <a:schemeClr val="accent5">
                    <a:lumMod val="50000"/>
                  </a:schemeClr>
                </a:solidFill>
                <a:latin typeface="Mongolian Baiti" panose="03000500000000000000" pitchFamily="66" charset="0"/>
                <a:cs typeface="Mongolian Baiti" panose="03000500000000000000" pitchFamily="66" charset="0"/>
              </a:rPr>
              <a:t>Diagnostic Analysis</a:t>
            </a:r>
            <a:r>
              <a:rPr lang="en-US" sz="2800" b="1" dirty="0">
                <a:latin typeface="Mongolian Baiti" panose="03000500000000000000" pitchFamily="66" charset="0"/>
                <a:cs typeface="Mongolian Baiti" panose="03000500000000000000" pitchFamily="66" charset="0"/>
              </a:rPr>
              <a:t>​</a:t>
            </a:r>
            <a:endParaRPr lang="en-IN" sz="2800" b="1" dirty="0">
              <a:latin typeface="Mongolian Baiti" panose="03000500000000000000" pitchFamily="66" charset="0"/>
              <a:cs typeface="Mongolian Baiti" panose="03000500000000000000" pitchFamily="66" charset="0"/>
            </a:endParaRPr>
          </a:p>
        </p:txBody>
      </p:sp>
      <p:sp>
        <p:nvSpPr>
          <p:cNvPr id="5" name="TextBox 4">
            <a:extLst>
              <a:ext uri="{FF2B5EF4-FFF2-40B4-BE49-F238E27FC236}">
                <a16:creationId xmlns:a16="http://schemas.microsoft.com/office/drawing/2014/main" id="{17947220-B4E3-B652-8B98-A72CCFDCBB98}"/>
              </a:ext>
            </a:extLst>
          </p:cNvPr>
          <p:cNvSpPr txBox="1"/>
          <p:nvPr/>
        </p:nvSpPr>
        <p:spPr>
          <a:xfrm>
            <a:off x="462116" y="1208916"/>
            <a:ext cx="7167716" cy="369332"/>
          </a:xfrm>
          <a:prstGeom prst="rect">
            <a:avLst/>
          </a:prstGeom>
          <a:noFill/>
        </p:spPr>
        <p:txBody>
          <a:bodyPr wrap="square">
            <a:spAutoFit/>
          </a:bodyPr>
          <a:lstStyle/>
          <a:p>
            <a:pPr fontAlgn="base"/>
            <a:r>
              <a:rPr lang="en-US" b="1" i="1" dirty="0">
                <a:solidFill>
                  <a:srgbClr val="000000"/>
                </a:solidFill>
                <a:latin typeface="Sitka Display Semibold" pitchFamily="2" charset="0"/>
              </a:rPr>
              <a:t>              Why did the viewership for "Thriller" genre spike on weekends?​</a:t>
            </a:r>
          </a:p>
        </p:txBody>
      </p:sp>
      <p:pic>
        <p:nvPicPr>
          <p:cNvPr id="7" name="Picture 6">
            <a:extLst>
              <a:ext uri="{FF2B5EF4-FFF2-40B4-BE49-F238E27FC236}">
                <a16:creationId xmlns:a16="http://schemas.microsoft.com/office/drawing/2014/main" id="{948999FF-A8D1-10F4-A2F4-21A159263F49}"/>
              </a:ext>
            </a:extLst>
          </p:cNvPr>
          <p:cNvPicPr>
            <a:picLocks noChangeAspect="1"/>
          </p:cNvPicPr>
          <p:nvPr/>
        </p:nvPicPr>
        <p:blipFill>
          <a:blip r:embed="rId2"/>
          <a:srcRect l="2103" t="1759" r="1484" b="4004"/>
          <a:stretch>
            <a:fillRect/>
          </a:stretch>
        </p:blipFill>
        <p:spPr>
          <a:xfrm>
            <a:off x="4562167" y="2398773"/>
            <a:ext cx="3067665" cy="1465007"/>
          </a:xfrm>
          <a:prstGeom prst="rect">
            <a:avLst/>
          </a:prstGeom>
        </p:spPr>
      </p:pic>
      <p:pic>
        <p:nvPicPr>
          <p:cNvPr id="9" name="Picture 8">
            <a:extLst>
              <a:ext uri="{FF2B5EF4-FFF2-40B4-BE49-F238E27FC236}">
                <a16:creationId xmlns:a16="http://schemas.microsoft.com/office/drawing/2014/main" id="{1EF83BD3-C27E-B7AF-147F-080CC5CCEB43}"/>
              </a:ext>
            </a:extLst>
          </p:cNvPr>
          <p:cNvPicPr>
            <a:picLocks noChangeAspect="1"/>
          </p:cNvPicPr>
          <p:nvPr/>
        </p:nvPicPr>
        <p:blipFill>
          <a:blip r:embed="rId3"/>
          <a:stretch>
            <a:fillRect/>
          </a:stretch>
        </p:blipFill>
        <p:spPr>
          <a:xfrm>
            <a:off x="7767481" y="4072396"/>
            <a:ext cx="3067665" cy="690763"/>
          </a:xfrm>
          <a:prstGeom prst="rect">
            <a:avLst/>
          </a:prstGeom>
        </p:spPr>
      </p:pic>
      <p:pic>
        <p:nvPicPr>
          <p:cNvPr id="11" name="Picture 10">
            <a:extLst>
              <a:ext uri="{FF2B5EF4-FFF2-40B4-BE49-F238E27FC236}">
                <a16:creationId xmlns:a16="http://schemas.microsoft.com/office/drawing/2014/main" id="{EC7E8B50-BEE3-EBF0-FE8E-DD91BBE85A5F}"/>
              </a:ext>
            </a:extLst>
          </p:cNvPr>
          <p:cNvPicPr>
            <a:picLocks noChangeAspect="1"/>
          </p:cNvPicPr>
          <p:nvPr/>
        </p:nvPicPr>
        <p:blipFill>
          <a:blip r:embed="rId4"/>
          <a:stretch>
            <a:fillRect/>
          </a:stretch>
        </p:blipFill>
        <p:spPr>
          <a:xfrm>
            <a:off x="7767482" y="5146160"/>
            <a:ext cx="3067664" cy="690763"/>
          </a:xfrm>
          <a:prstGeom prst="rect">
            <a:avLst/>
          </a:prstGeom>
        </p:spPr>
      </p:pic>
      <p:sp>
        <p:nvSpPr>
          <p:cNvPr id="13" name="TextBox 12">
            <a:extLst>
              <a:ext uri="{FF2B5EF4-FFF2-40B4-BE49-F238E27FC236}">
                <a16:creationId xmlns:a16="http://schemas.microsoft.com/office/drawing/2014/main" id="{D4BC7E32-6CFA-02AB-9EAB-6EBCEBC74603}"/>
              </a:ext>
            </a:extLst>
          </p:cNvPr>
          <p:cNvSpPr txBox="1"/>
          <p:nvPr/>
        </p:nvSpPr>
        <p:spPr>
          <a:xfrm>
            <a:off x="580101" y="4233112"/>
            <a:ext cx="4454015" cy="369332"/>
          </a:xfrm>
          <a:prstGeom prst="rect">
            <a:avLst/>
          </a:prstGeom>
          <a:noFill/>
        </p:spPr>
        <p:txBody>
          <a:bodyPr wrap="square" rtlCol="0">
            <a:spAutoFit/>
          </a:bodyPr>
          <a:lstStyle/>
          <a:p>
            <a:r>
              <a:rPr lang="en-US" dirty="0"/>
              <a:t>Viewership for thriller content on weekend</a:t>
            </a:r>
            <a:endParaRPr lang="en-IN" dirty="0"/>
          </a:p>
        </p:txBody>
      </p:sp>
      <p:sp>
        <p:nvSpPr>
          <p:cNvPr id="15" name="TextBox 14">
            <a:extLst>
              <a:ext uri="{FF2B5EF4-FFF2-40B4-BE49-F238E27FC236}">
                <a16:creationId xmlns:a16="http://schemas.microsoft.com/office/drawing/2014/main" id="{B24195EA-BB4A-801B-A42D-C823DBDB79C3}"/>
              </a:ext>
            </a:extLst>
          </p:cNvPr>
          <p:cNvSpPr txBox="1"/>
          <p:nvPr/>
        </p:nvSpPr>
        <p:spPr>
          <a:xfrm>
            <a:off x="580102" y="5222575"/>
            <a:ext cx="4454014" cy="369332"/>
          </a:xfrm>
          <a:prstGeom prst="rect">
            <a:avLst/>
          </a:prstGeom>
          <a:noFill/>
        </p:spPr>
        <p:txBody>
          <a:bodyPr wrap="square">
            <a:spAutoFit/>
          </a:bodyPr>
          <a:lstStyle/>
          <a:p>
            <a:r>
              <a:rPr lang="en-US" dirty="0"/>
              <a:t>Viewership for thriller content on weekend</a:t>
            </a:r>
            <a:endParaRPr lang="en-IN" dirty="0"/>
          </a:p>
        </p:txBody>
      </p:sp>
      <p:sp>
        <p:nvSpPr>
          <p:cNvPr id="16" name="TextBox 15">
            <a:extLst>
              <a:ext uri="{FF2B5EF4-FFF2-40B4-BE49-F238E27FC236}">
                <a16:creationId xmlns:a16="http://schemas.microsoft.com/office/drawing/2014/main" id="{6A3DDA08-09E1-88B9-DE77-2C8BF492B3BB}"/>
              </a:ext>
            </a:extLst>
          </p:cNvPr>
          <p:cNvSpPr txBox="1"/>
          <p:nvPr/>
        </p:nvSpPr>
        <p:spPr>
          <a:xfrm>
            <a:off x="580102" y="1736714"/>
            <a:ext cx="11179279" cy="369332"/>
          </a:xfrm>
          <a:prstGeom prst="rect">
            <a:avLst/>
          </a:prstGeom>
          <a:noFill/>
        </p:spPr>
        <p:txBody>
          <a:bodyPr wrap="square" rtlCol="0">
            <a:spAutoFit/>
          </a:bodyPr>
          <a:lstStyle/>
          <a:p>
            <a:r>
              <a:rPr lang="en-US" dirty="0"/>
              <a:t>These are the evidences for concluding that there is a spike for the viewership for the thriller genre on weekends.</a:t>
            </a:r>
            <a:endParaRPr lang="en-IN" dirty="0"/>
          </a:p>
        </p:txBody>
      </p:sp>
      <p:sp>
        <p:nvSpPr>
          <p:cNvPr id="20" name="Arrow: Right 19">
            <a:extLst>
              <a:ext uri="{FF2B5EF4-FFF2-40B4-BE49-F238E27FC236}">
                <a16:creationId xmlns:a16="http://schemas.microsoft.com/office/drawing/2014/main" id="{4510168A-8F7A-9D27-71FD-395524580FE0}"/>
              </a:ext>
            </a:extLst>
          </p:cNvPr>
          <p:cNvSpPr/>
          <p:nvPr/>
        </p:nvSpPr>
        <p:spPr>
          <a:xfrm>
            <a:off x="5624052" y="4336026"/>
            <a:ext cx="1268361" cy="1389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5ED890F2-F5EB-4A8E-5A0E-E8615F9FF62F}"/>
              </a:ext>
            </a:extLst>
          </p:cNvPr>
          <p:cNvSpPr/>
          <p:nvPr/>
        </p:nvSpPr>
        <p:spPr>
          <a:xfrm>
            <a:off x="5624052" y="5337776"/>
            <a:ext cx="1268361" cy="1389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E8EECBA2-2D5D-AC89-3622-218A30254B8E}"/>
              </a:ext>
            </a:extLst>
          </p:cNvPr>
          <p:cNvSpPr/>
          <p:nvPr/>
        </p:nvSpPr>
        <p:spPr>
          <a:xfrm>
            <a:off x="715148" y="1340883"/>
            <a:ext cx="484387" cy="1450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95772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7709AD-78B3-FDD0-C8FD-760C3A2C4ED8}"/>
              </a:ext>
            </a:extLst>
          </p:cNvPr>
          <p:cNvPicPr>
            <a:picLocks noChangeAspect="1"/>
          </p:cNvPicPr>
          <p:nvPr/>
        </p:nvPicPr>
        <p:blipFill>
          <a:blip r:embed="rId2"/>
          <a:srcRect l="2340" t="2941"/>
          <a:stretch>
            <a:fillRect/>
          </a:stretch>
        </p:blipFill>
        <p:spPr>
          <a:xfrm>
            <a:off x="8160774" y="1120877"/>
            <a:ext cx="3313469" cy="1700811"/>
          </a:xfrm>
          <a:prstGeom prst="rect">
            <a:avLst/>
          </a:prstGeom>
        </p:spPr>
      </p:pic>
      <p:pic>
        <p:nvPicPr>
          <p:cNvPr id="5" name="Picture 4">
            <a:extLst>
              <a:ext uri="{FF2B5EF4-FFF2-40B4-BE49-F238E27FC236}">
                <a16:creationId xmlns:a16="http://schemas.microsoft.com/office/drawing/2014/main" id="{44970164-EA23-EA77-7CC4-96BF81E31287}"/>
              </a:ext>
            </a:extLst>
          </p:cNvPr>
          <p:cNvPicPr>
            <a:picLocks noChangeAspect="1"/>
          </p:cNvPicPr>
          <p:nvPr/>
        </p:nvPicPr>
        <p:blipFill>
          <a:blip r:embed="rId3"/>
          <a:srcRect l="2679" t="1320" r="3052" b="1918"/>
          <a:stretch>
            <a:fillRect/>
          </a:stretch>
        </p:blipFill>
        <p:spPr>
          <a:xfrm>
            <a:off x="8160774" y="3028335"/>
            <a:ext cx="3313470" cy="3549446"/>
          </a:xfrm>
          <a:prstGeom prst="rect">
            <a:avLst/>
          </a:prstGeom>
        </p:spPr>
      </p:pic>
      <p:sp>
        <p:nvSpPr>
          <p:cNvPr id="6" name="TextBox 5">
            <a:extLst>
              <a:ext uri="{FF2B5EF4-FFF2-40B4-BE49-F238E27FC236}">
                <a16:creationId xmlns:a16="http://schemas.microsoft.com/office/drawing/2014/main" id="{F0B13118-63AD-878A-8CD2-180DB9CA41F0}"/>
              </a:ext>
            </a:extLst>
          </p:cNvPr>
          <p:cNvSpPr txBox="1"/>
          <p:nvPr/>
        </p:nvSpPr>
        <p:spPr>
          <a:xfrm>
            <a:off x="393289" y="560439"/>
            <a:ext cx="11267770" cy="461665"/>
          </a:xfrm>
          <a:prstGeom prst="rect">
            <a:avLst/>
          </a:prstGeom>
          <a:noFill/>
        </p:spPr>
        <p:txBody>
          <a:bodyPr wrap="square" rtlCol="0">
            <a:spAutoFit/>
          </a:bodyPr>
          <a:lstStyle/>
          <a:p>
            <a:r>
              <a:rPr lang="en-US" sz="2400" b="1" dirty="0">
                <a:latin typeface="Cy Grotesk Key Bold"/>
              </a:rPr>
              <a:t>                       </a:t>
            </a:r>
            <a:r>
              <a:rPr lang="en-US" sz="2400" u="sng" dirty="0">
                <a:solidFill>
                  <a:schemeClr val="accent5">
                    <a:lumMod val="50000"/>
                  </a:schemeClr>
                </a:solidFill>
                <a:latin typeface="Mongolian Baiti" panose="03000500000000000000" pitchFamily="66" charset="0"/>
                <a:cs typeface="Mongolian Baiti" panose="03000500000000000000" pitchFamily="66" charset="0"/>
              </a:rPr>
              <a:t>My observations on spike in viewership for thriller on weekends</a:t>
            </a:r>
            <a:endParaRPr lang="en-IN" sz="2400" u="sng" dirty="0">
              <a:solidFill>
                <a:schemeClr val="accent5">
                  <a:lumMod val="50000"/>
                </a:schemeClr>
              </a:solidFill>
              <a:latin typeface="Mongolian Baiti" panose="03000500000000000000" pitchFamily="66" charset="0"/>
              <a:cs typeface="Mongolian Baiti" panose="03000500000000000000" pitchFamily="66" charset="0"/>
            </a:endParaRPr>
          </a:p>
        </p:txBody>
      </p:sp>
      <p:pic>
        <p:nvPicPr>
          <p:cNvPr id="8" name="Picture 7">
            <a:extLst>
              <a:ext uri="{FF2B5EF4-FFF2-40B4-BE49-F238E27FC236}">
                <a16:creationId xmlns:a16="http://schemas.microsoft.com/office/drawing/2014/main" id="{D618B84A-76ED-05DB-C581-019D7985A845}"/>
              </a:ext>
            </a:extLst>
          </p:cNvPr>
          <p:cNvPicPr>
            <a:picLocks noChangeAspect="1"/>
          </p:cNvPicPr>
          <p:nvPr/>
        </p:nvPicPr>
        <p:blipFill>
          <a:blip r:embed="rId4"/>
          <a:stretch>
            <a:fillRect/>
          </a:stretch>
        </p:blipFill>
        <p:spPr>
          <a:xfrm>
            <a:off x="599768" y="3028334"/>
            <a:ext cx="7305367" cy="3549446"/>
          </a:xfrm>
          <a:prstGeom prst="rect">
            <a:avLst/>
          </a:prstGeom>
        </p:spPr>
      </p:pic>
      <p:sp>
        <p:nvSpPr>
          <p:cNvPr id="9" name="TextBox 8">
            <a:extLst>
              <a:ext uri="{FF2B5EF4-FFF2-40B4-BE49-F238E27FC236}">
                <a16:creationId xmlns:a16="http://schemas.microsoft.com/office/drawing/2014/main" id="{9A2DFDCE-0929-6DDF-A00C-ACDED00734CF}"/>
              </a:ext>
            </a:extLst>
          </p:cNvPr>
          <p:cNvSpPr txBox="1"/>
          <p:nvPr/>
        </p:nvSpPr>
        <p:spPr>
          <a:xfrm>
            <a:off x="599768" y="1120877"/>
            <a:ext cx="7305367" cy="1200329"/>
          </a:xfrm>
          <a:prstGeom prst="rect">
            <a:avLst/>
          </a:prstGeom>
          <a:noFill/>
        </p:spPr>
        <p:txBody>
          <a:bodyPr wrap="square" rtlCol="0">
            <a:spAutoFit/>
          </a:bodyPr>
          <a:lstStyle/>
          <a:p>
            <a:r>
              <a:rPr lang="en-US" dirty="0"/>
              <a:t>From these images we can conclude that viewership for the thriller spike on the weekend because of the viewers in the Australia are watching more thriller content and the viewers with the age (35-44,25-34) are watching more thriller content on the weekends.</a:t>
            </a:r>
            <a:endParaRPr lang="en-IN" dirty="0"/>
          </a:p>
        </p:txBody>
      </p:sp>
    </p:spTree>
    <p:extLst>
      <p:ext uri="{BB962C8B-B14F-4D97-AF65-F5344CB8AC3E}">
        <p14:creationId xmlns:p14="http://schemas.microsoft.com/office/powerpoint/2010/main" val="1588231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sp>
        <p:nvSpPr>
          <p:cNvPr id="2" name="Arrow: Right 1">
            <a:extLst>
              <a:ext uri="{FF2B5EF4-FFF2-40B4-BE49-F238E27FC236}">
                <a16:creationId xmlns:a16="http://schemas.microsoft.com/office/drawing/2014/main" id="{9DF9F1E2-C9B3-F189-2F2A-5A0029E5DC20}"/>
              </a:ext>
            </a:extLst>
          </p:cNvPr>
          <p:cNvSpPr/>
          <p:nvPr/>
        </p:nvSpPr>
        <p:spPr>
          <a:xfrm>
            <a:off x="724980" y="416650"/>
            <a:ext cx="484387" cy="1450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D89E965A-E619-3158-15E9-07D232BD8254}"/>
              </a:ext>
            </a:extLst>
          </p:cNvPr>
          <p:cNvSpPr txBox="1"/>
          <p:nvPr/>
        </p:nvSpPr>
        <p:spPr>
          <a:xfrm>
            <a:off x="1337187" y="287678"/>
            <a:ext cx="8091947" cy="369332"/>
          </a:xfrm>
          <a:prstGeom prst="rect">
            <a:avLst/>
          </a:prstGeom>
          <a:noFill/>
        </p:spPr>
        <p:txBody>
          <a:bodyPr wrap="square">
            <a:spAutoFit/>
          </a:bodyPr>
          <a:lstStyle/>
          <a:p>
            <a:pPr algn="l" rtl="0" fontAlgn="base"/>
            <a:r>
              <a:rPr lang="en-US" b="1" i="1" dirty="0">
                <a:solidFill>
                  <a:srgbClr val="000000"/>
                </a:solidFill>
                <a:latin typeface="Sitka Display Semibold" pitchFamily="2" charset="0"/>
              </a:rPr>
              <a:t>Why did Content A perform better than Content B even with similar ratings?​</a:t>
            </a:r>
          </a:p>
        </p:txBody>
      </p:sp>
      <p:pic>
        <p:nvPicPr>
          <p:cNvPr id="6" name="Picture 5">
            <a:extLst>
              <a:ext uri="{FF2B5EF4-FFF2-40B4-BE49-F238E27FC236}">
                <a16:creationId xmlns:a16="http://schemas.microsoft.com/office/drawing/2014/main" id="{DFACDF5D-E520-121E-38C3-722A690E6E03}"/>
              </a:ext>
            </a:extLst>
          </p:cNvPr>
          <p:cNvPicPr>
            <a:picLocks noChangeAspect="1"/>
          </p:cNvPicPr>
          <p:nvPr/>
        </p:nvPicPr>
        <p:blipFill>
          <a:blip r:embed="rId2"/>
          <a:srcRect l="2764" r="3930" b="9504"/>
          <a:stretch>
            <a:fillRect/>
          </a:stretch>
        </p:blipFill>
        <p:spPr>
          <a:xfrm>
            <a:off x="3841806" y="1834791"/>
            <a:ext cx="2568827" cy="620710"/>
          </a:xfrm>
          <a:prstGeom prst="rect">
            <a:avLst/>
          </a:prstGeom>
        </p:spPr>
      </p:pic>
      <p:pic>
        <p:nvPicPr>
          <p:cNvPr id="8" name="Picture 7">
            <a:extLst>
              <a:ext uri="{FF2B5EF4-FFF2-40B4-BE49-F238E27FC236}">
                <a16:creationId xmlns:a16="http://schemas.microsoft.com/office/drawing/2014/main" id="{48371DD0-EE88-2E3D-FFBB-0893F814461D}"/>
              </a:ext>
            </a:extLst>
          </p:cNvPr>
          <p:cNvPicPr>
            <a:picLocks noChangeAspect="1"/>
          </p:cNvPicPr>
          <p:nvPr/>
        </p:nvPicPr>
        <p:blipFill>
          <a:blip r:embed="rId3"/>
          <a:srcRect l="2364" b="14004"/>
          <a:stretch>
            <a:fillRect/>
          </a:stretch>
        </p:blipFill>
        <p:spPr>
          <a:xfrm>
            <a:off x="7590957" y="1834791"/>
            <a:ext cx="2614476" cy="620710"/>
          </a:xfrm>
          <a:prstGeom prst="rect">
            <a:avLst/>
          </a:prstGeom>
        </p:spPr>
      </p:pic>
      <p:sp>
        <p:nvSpPr>
          <p:cNvPr id="10" name="TextBox 9">
            <a:extLst>
              <a:ext uri="{FF2B5EF4-FFF2-40B4-BE49-F238E27FC236}">
                <a16:creationId xmlns:a16="http://schemas.microsoft.com/office/drawing/2014/main" id="{8F777958-3595-735B-0F83-8670F4E284F6}"/>
              </a:ext>
            </a:extLst>
          </p:cNvPr>
          <p:cNvSpPr txBox="1"/>
          <p:nvPr/>
        </p:nvSpPr>
        <p:spPr>
          <a:xfrm>
            <a:off x="806245" y="875071"/>
            <a:ext cx="10520516" cy="646331"/>
          </a:xfrm>
          <a:prstGeom prst="rect">
            <a:avLst/>
          </a:prstGeom>
          <a:noFill/>
        </p:spPr>
        <p:txBody>
          <a:bodyPr wrap="square" rtlCol="0">
            <a:spAutoFit/>
          </a:bodyPr>
          <a:lstStyle/>
          <a:p>
            <a:r>
              <a:rPr lang="en-IN" dirty="0"/>
              <a:t>From the below values we can conclude that the Content A performs better than the Content B with similar ratings in the terms of the Views, Shares, Likes, Comments</a:t>
            </a:r>
          </a:p>
        </p:txBody>
      </p:sp>
      <p:sp>
        <p:nvSpPr>
          <p:cNvPr id="11" name="TextBox 10">
            <a:extLst>
              <a:ext uri="{FF2B5EF4-FFF2-40B4-BE49-F238E27FC236}">
                <a16:creationId xmlns:a16="http://schemas.microsoft.com/office/drawing/2014/main" id="{6B3F7DAE-96C3-06FF-78E3-B526A5F31C40}"/>
              </a:ext>
            </a:extLst>
          </p:cNvPr>
          <p:cNvSpPr txBox="1"/>
          <p:nvPr/>
        </p:nvSpPr>
        <p:spPr>
          <a:xfrm>
            <a:off x="806245" y="1973514"/>
            <a:ext cx="1245085" cy="369332"/>
          </a:xfrm>
          <a:prstGeom prst="rect">
            <a:avLst/>
          </a:prstGeom>
          <a:noFill/>
        </p:spPr>
        <p:txBody>
          <a:bodyPr wrap="square" rtlCol="0">
            <a:spAutoFit/>
          </a:bodyPr>
          <a:lstStyle/>
          <a:p>
            <a:r>
              <a:rPr lang="en-IN" dirty="0"/>
              <a:t>Views</a:t>
            </a:r>
          </a:p>
        </p:txBody>
      </p:sp>
      <p:sp>
        <p:nvSpPr>
          <p:cNvPr id="12" name="Arrow: Right 11">
            <a:extLst>
              <a:ext uri="{FF2B5EF4-FFF2-40B4-BE49-F238E27FC236}">
                <a16:creationId xmlns:a16="http://schemas.microsoft.com/office/drawing/2014/main" id="{4B855C91-6B82-6F58-69ED-898D87604C84}"/>
              </a:ext>
            </a:extLst>
          </p:cNvPr>
          <p:cNvSpPr/>
          <p:nvPr/>
        </p:nvSpPr>
        <p:spPr>
          <a:xfrm>
            <a:off x="2487561" y="2074606"/>
            <a:ext cx="648929" cy="1671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B8B19C6E-43D7-E993-F524-DA76B69CC06C}"/>
              </a:ext>
            </a:extLst>
          </p:cNvPr>
          <p:cNvPicPr>
            <a:picLocks noChangeAspect="1"/>
          </p:cNvPicPr>
          <p:nvPr/>
        </p:nvPicPr>
        <p:blipFill>
          <a:blip r:embed="rId4"/>
          <a:srcRect t="18257"/>
          <a:stretch>
            <a:fillRect/>
          </a:stretch>
        </p:blipFill>
        <p:spPr>
          <a:xfrm>
            <a:off x="3841805" y="2927084"/>
            <a:ext cx="2568827" cy="646331"/>
          </a:xfrm>
          <a:prstGeom prst="rect">
            <a:avLst/>
          </a:prstGeom>
        </p:spPr>
      </p:pic>
      <p:pic>
        <p:nvPicPr>
          <p:cNvPr id="16" name="Picture 15">
            <a:extLst>
              <a:ext uri="{FF2B5EF4-FFF2-40B4-BE49-F238E27FC236}">
                <a16:creationId xmlns:a16="http://schemas.microsoft.com/office/drawing/2014/main" id="{A3C55566-374B-0204-BE89-F3F50AA6DC3D}"/>
              </a:ext>
            </a:extLst>
          </p:cNvPr>
          <p:cNvPicPr>
            <a:picLocks noChangeAspect="1"/>
          </p:cNvPicPr>
          <p:nvPr/>
        </p:nvPicPr>
        <p:blipFill>
          <a:blip r:embed="rId5"/>
          <a:srcRect l="2678" t="3460"/>
          <a:stretch>
            <a:fillRect/>
          </a:stretch>
        </p:blipFill>
        <p:spPr>
          <a:xfrm>
            <a:off x="7590957" y="2877663"/>
            <a:ext cx="2614476" cy="695752"/>
          </a:xfrm>
          <a:prstGeom prst="rect">
            <a:avLst/>
          </a:prstGeom>
        </p:spPr>
      </p:pic>
      <p:sp>
        <p:nvSpPr>
          <p:cNvPr id="17" name="TextBox 16">
            <a:extLst>
              <a:ext uri="{FF2B5EF4-FFF2-40B4-BE49-F238E27FC236}">
                <a16:creationId xmlns:a16="http://schemas.microsoft.com/office/drawing/2014/main" id="{56D4511C-9015-DA95-6E40-BDE48E5B246D}"/>
              </a:ext>
            </a:extLst>
          </p:cNvPr>
          <p:cNvSpPr txBox="1"/>
          <p:nvPr/>
        </p:nvSpPr>
        <p:spPr>
          <a:xfrm>
            <a:off x="806245" y="3051671"/>
            <a:ext cx="1245085" cy="369332"/>
          </a:xfrm>
          <a:prstGeom prst="rect">
            <a:avLst/>
          </a:prstGeom>
          <a:noFill/>
        </p:spPr>
        <p:txBody>
          <a:bodyPr wrap="square" rtlCol="0">
            <a:spAutoFit/>
          </a:bodyPr>
          <a:lstStyle/>
          <a:p>
            <a:r>
              <a:rPr lang="en-IN" dirty="0"/>
              <a:t>Comments</a:t>
            </a:r>
          </a:p>
        </p:txBody>
      </p:sp>
      <p:sp>
        <p:nvSpPr>
          <p:cNvPr id="18" name="Arrow: Right 17">
            <a:extLst>
              <a:ext uri="{FF2B5EF4-FFF2-40B4-BE49-F238E27FC236}">
                <a16:creationId xmlns:a16="http://schemas.microsoft.com/office/drawing/2014/main" id="{3D3E1CE6-E453-BD09-BCF4-95A8550F465B}"/>
              </a:ext>
            </a:extLst>
          </p:cNvPr>
          <p:cNvSpPr/>
          <p:nvPr/>
        </p:nvSpPr>
        <p:spPr>
          <a:xfrm>
            <a:off x="2477955" y="3107885"/>
            <a:ext cx="648929" cy="1671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a:extLst>
              <a:ext uri="{FF2B5EF4-FFF2-40B4-BE49-F238E27FC236}">
                <a16:creationId xmlns:a16="http://schemas.microsoft.com/office/drawing/2014/main" id="{2FD71FA4-756F-CCED-9824-75717B6D1576}"/>
              </a:ext>
            </a:extLst>
          </p:cNvPr>
          <p:cNvPicPr>
            <a:picLocks noChangeAspect="1"/>
          </p:cNvPicPr>
          <p:nvPr/>
        </p:nvPicPr>
        <p:blipFill>
          <a:blip r:embed="rId6"/>
          <a:srcRect l="4192" t="13489" r="3784"/>
          <a:stretch>
            <a:fillRect/>
          </a:stretch>
        </p:blipFill>
        <p:spPr>
          <a:xfrm>
            <a:off x="3841805" y="4027696"/>
            <a:ext cx="2647485" cy="741718"/>
          </a:xfrm>
          <a:prstGeom prst="rect">
            <a:avLst/>
          </a:prstGeom>
        </p:spPr>
      </p:pic>
      <p:pic>
        <p:nvPicPr>
          <p:cNvPr id="22" name="Picture 21">
            <a:extLst>
              <a:ext uri="{FF2B5EF4-FFF2-40B4-BE49-F238E27FC236}">
                <a16:creationId xmlns:a16="http://schemas.microsoft.com/office/drawing/2014/main" id="{589E3E95-B827-9BE0-A23B-B50CDB4B5F24}"/>
              </a:ext>
            </a:extLst>
          </p:cNvPr>
          <p:cNvPicPr>
            <a:picLocks noChangeAspect="1"/>
          </p:cNvPicPr>
          <p:nvPr/>
        </p:nvPicPr>
        <p:blipFill>
          <a:blip r:embed="rId7"/>
          <a:srcRect l="3810" t="19732" r="2931"/>
          <a:stretch>
            <a:fillRect/>
          </a:stretch>
        </p:blipFill>
        <p:spPr>
          <a:xfrm>
            <a:off x="7557948" y="4027696"/>
            <a:ext cx="2647485" cy="741719"/>
          </a:xfrm>
          <a:prstGeom prst="rect">
            <a:avLst/>
          </a:prstGeom>
        </p:spPr>
      </p:pic>
      <p:sp>
        <p:nvSpPr>
          <p:cNvPr id="25" name="TextBox 24">
            <a:extLst>
              <a:ext uri="{FF2B5EF4-FFF2-40B4-BE49-F238E27FC236}">
                <a16:creationId xmlns:a16="http://schemas.microsoft.com/office/drawing/2014/main" id="{B2B6F258-CB10-5E94-732B-AFB703545C44}"/>
              </a:ext>
            </a:extLst>
          </p:cNvPr>
          <p:cNvSpPr txBox="1"/>
          <p:nvPr/>
        </p:nvSpPr>
        <p:spPr>
          <a:xfrm>
            <a:off x="806245" y="4155141"/>
            <a:ext cx="1245085" cy="369332"/>
          </a:xfrm>
          <a:prstGeom prst="rect">
            <a:avLst/>
          </a:prstGeom>
          <a:noFill/>
        </p:spPr>
        <p:txBody>
          <a:bodyPr wrap="square" rtlCol="0">
            <a:spAutoFit/>
          </a:bodyPr>
          <a:lstStyle/>
          <a:p>
            <a:r>
              <a:rPr lang="en-IN" dirty="0"/>
              <a:t>Likes</a:t>
            </a:r>
          </a:p>
        </p:txBody>
      </p:sp>
      <p:sp>
        <p:nvSpPr>
          <p:cNvPr id="26" name="Arrow: Right 25">
            <a:extLst>
              <a:ext uri="{FF2B5EF4-FFF2-40B4-BE49-F238E27FC236}">
                <a16:creationId xmlns:a16="http://schemas.microsoft.com/office/drawing/2014/main" id="{8B514FE3-0F90-6A29-F131-559CDF733872}"/>
              </a:ext>
            </a:extLst>
          </p:cNvPr>
          <p:cNvSpPr/>
          <p:nvPr/>
        </p:nvSpPr>
        <p:spPr>
          <a:xfrm>
            <a:off x="2487561" y="4256232"/>
            <a:ext cx="648929" cy="1671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8" name="Picture 27">
            <a:extLst>
              <a:ext uri="{FF2B5EF4-FFF2-40B4-BE49-F238E27FC236}">
                <a16:creationId xmlns:a16="http://schemas.microsoft.com/office/drawing/2014/main" id="{49766292-C525-E762-3FC3-3FB78A4997DC}"/>
              </a:ext>
            </a:extLst>
          </p:cNvPr>
          <p:cNvPicPr>
            <a:picLocks noChangeAspect="1"/>
          </p:cNvPicPr>
          <p:nvPr/>
        </p:nvPicPr>
        <p:blipFill>
          <a:blip r:embed="rId8"/>
          <a:srcRect t="7310" r="3694"/>
          <a:stretch>
            <a:fillRect/>
          </a:stretch>
        </p:blipFill>
        <p:spPr>
          <a:xfrm>
            <a:off x="3855249" y="5223696"/>
            <a:ext cx="2568827" cy="597002"/>
          </a:xfrm>
          <a:prstGeom prst="rect">
            <a:avLst/>
          </a:prstGeom>
        </p:spPr>
      </p:pic>
      <p:sp>
        <p:nvSpPr>
          <p:cNvPr id="31" name="TextBox 30">
            <a:extLst>
              <a:ext uri="{FF2B5EF4-FFF2-40B4-BE49-F238E27FC236}">
                <a16:creationId xmlns:a16="http://schemas.microsoft.com/office/drawing/2014/main" id="{F0A4C803-D2CE-998A-9E7D-C56B167A0A0F}"/>
              </a:ext>
            </a:extLst>
          </p:cNvPr>
          <p:cNvSpPr txBox="1"/>
          <p:nvPr/>
        </p:nvSpPr>
        <p:spPr>
          <a:xfrm>
            <a:off x="806244" y="5205612"/>
            <a:ext cx="1245085" cy="369332"/>
          </a:xfrm>
          <a:prstGeom prst="rect">
            <a:avLst/>
          </a:prstGeom>
          <a:noFill/>
        </p:spPr>
        <p:txBody>
          <a:bodyPr wrap="square" rtlCol="0">
            <a:spAutoFit/>
          </a:bodyPr>
          <a:lstStyle/>
          <a:p>
            <a:r>
              <a:rPr lang="en-IN" dirty="0"/>
              <a:t>Shares</a:t>
            </a:r>
          </a:p>
        </p:txBody>
      </p:sp>
      <p:sp>
        <p:nvSpPr>
          <p:cNvPr id="32" name="Arrow: Right 31">
            <a:extLst>
              <a:ext uri="{FF2B5EF4-FFF2-40B4-BE49-F238E27FC236}">
                <a16:creationId xmlns:a16="http://schemas.microsoft.com/office/drawing/2014/main" id="{DC26B8C6-5B9B-A399-D629-320110987207}"/>
              </a:ext>
            </a:extLst>
          </p:cNvPr>
          <p:cNvSpPr/>
          <p:nvPr/>
        </p:nvSpPr>
        <p:spPr>
          <a:xfrm>
            <a:off x="2477954" y="5267807"/>
            <a:ext cx="648929" cy="1671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4" name="Picture 33">
            <a:extLst>
              <a:ext uri="{FF2B5EF4-FFF2-40B4-BE49-F238E27FC236}">
                <a16:creationId xmlns:a16="http://schemas.microsoft.com/office/drawing/2014/main" id="{36D29D7C-746A-28C7-AE8C-4BEE92F95519}"/>
              </a:ext>
            </a:extLst>
          </p:cNvPr>
          <p:cNvPicPr>
            <a:picLocks noChangeAspect="1"/>
          </p:cNvPicPr>
          <p:nvPr/>
        </p:nvPicPr>
        <p:blipFill>
          <a:blip r:embed="rId9"/>
          <a:srcRect l="2897" t="14956" r="2487"/>
          <a:stretch>
            <a:fillRect/>
          </a:stretch>
        </p:blipFill>
        <p:spPr>
          <a:xfrm>
            <a:off x="7590957" y="5202270"/>
            <a:ext cx="2614476" cy="618428"/>
          </a:xfrm>
          <a:prstGeom prst="rect">
            <a:avLst/>
          </a:prstGeom>
        </p:spPr>
      </p:pic>
    </p:spTree>
    <p:extLst>
      <p:ext uri="{BB962C8B-B14F-4D97-AF65-F5344CB8AC3E}">
        <p14:creationId xmlns:p14="http://schemas.microsoft.com/office/powerpoint/2010/main" val="728386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C5EF4A-1067-12D1-EC97-82081E5D87C4}"/>
              </a:ext>
            </a:extLst>
          </p:cNvPr>
          <p:cNvSpPr txBox="1"/>
          <p:nvPr/>
        </p:nvSpPr>
        <p:spPr>
          <a:xfrm>
            <a:off x="948813" y="581403"/>
            <a:ext cx="10294374" cy="400110"/>
          </a:xfrm>
          <a:prstGeom prst="rect">
            <a:avLst/>
          </a:prstGeom>
          <a:noFill/>
        </p:spPr>
        <p:txBody>
          <a:bodyPr wrap="square">
            <a:spAutoFit/>
          </a:bodyPr>
          <a:lstStyle/>
          <a:p>
            <a:r>
              <a:rPr lang="en-US" sz="2000" u="sng" dirty="0">
                <a:solidFill>
                  <a:schemeClr val="accent5">
                    <a:lumMod val="50000"/>
                  </a:schemeClr>
                </a:solidFill>
                <a:latin typeface="Mongolian Baiti" panose="03000500000000000000" pitchFamily="66" charset="0"/>
                <a:cs typeface="Mongolian Baiti" panose="03000500000000000000" pitchFamily="66" charset="0"/>
              </a:rPr>
              <a:t>My observations on why did Content A perform better than Content B even with similar ratings</a:t>
            </a:r>
            <a:endParaRPr lang="en-IN" sz="2000" u="sng" dirty="0">
              <a:solidFill>
                <a:schemeClr val="accent5">
                  <a:lumMod val="50000"/>
                </a:schemeClr>
              </a:solidFill>
              <a:latin typeface="Mongolian Baiti" panose="03000500000000000000" pitchFamily="66" charset="0"/>
              <a:cs typeface="Mongolian Baiti" panose="03000500000000000000" pitchFamily="66" charset="0"/>
            </a:endParaRPr>
          </a:p>
        </p:txBody>
      </p:sp>
      <p:pic>
        <p:nvPicPr>
          <p:cNvPr id="5" name="Picture 4">
            <a:extLst>
              <a:ext uri="{FF2B5EF4-FFF2-40B4-BE49-F238E27FC236}">
                <a16:creationId xmlns:a16="http://schemas.microsoft.com/office/drawing/2014/main" id="{7C3B6824-D7D9-27BA-A1A1-D34C675D1B1B}"/>
              </a:ext>
            </a:extLst>
          </p:cNvPr>
          <p:cNvPicPr>
            <a:picLocks noChangeAspect="1"/>
          </p:cNvPicPr>
          <p:nvPr/>
        </p:nvPicPr>
        <p:blipFill>
          <a:blip r:embed="rId2"/>
          <a:srcRect l="1864" t="3146" r="1213" b="2958"/>
          <a:stretch>
            <a:fillRect/>
          </a:stretch>
        </p:blipFill>
        <p:spPr>
          <a:xfrm>
            <a:off x="6872748" y="1170041"/>
            <a:ext cx="4837472" cy="1573162"/>
          </a:xfrm>
          <a:prstGeom prst="rect">
            <a:avLst/>
          </a:prstGeom>
        </p:spPr>
      </p:pic>
      <p:pic>
        <p:nvPicPr>
          <p:cNvPr id="7" name="Picture 6">
            <a:extLst>
              <a:ext uri="{FF2B5EF4-FFF2-40B4-BE49-F238E27FC236}">
                <a16:creationId xmlns:a16="http://schemas.microsoft.com/office/drawing/2014/main" id="{724CCDE3-4E05-2FA8-1D13-1136C1B5D663}"/>
              </a:ext>
            </a:extLst>
          </p:cNvPr>
          <p:cNvPicPr>
            <a:picLocks noChangeAspect="1"/>
          </p:cNvPicPr>
          <p:nvPr/>
        </p:nvPicPr>
        <p:blipFill>
          <a:blip r:embed="rId3"/>
          <a:srcRect l="2299" t="6204" r="1244" b="3556"/>
          <a:stretch>
            <a:fillRect/>
          </a:stretch>
        </p:blipFill>
        <p:spPr>
          <a:xfrm>
            <a:off x="6872748" y="2931731"/>
            <a:ext cx="4837471" cy="948815"/>
          </a:xfrm>
          <a:prstGeom prst="rect">
            <a:avLst/>
          </a:prstGeom>
        </p:spPr>
      </p:pic>
      <p:pic>
        <p:nvPicPr>
          <p:cNvPr id="9" name="Picture 8">
            <a:extLst>
              <a:ext uri="{FF2B5EF4-FFF2-40B4-BE49-F238E27FC236}">
                <a16:creationId xmlns:a16="http://schemas.microsoft.com/office/drawing/2014/main" id="{6BDFD00D-0F9E-2883-61D1-8AD28B9375B4}"/>
              </a:ext>
            </a:extLst>
          </p:cNvPr>
          <p:cNvPicPr>
            <a:picLocks noChangeAspect="1"/>
          </p:cNvPicPr>
          <p:nvPr/>
        </p:nvPicPr>
        <p:blipFill>
          <a:blip r:embed="rId4"/>
          <a:srcRect l="1961" t="5296" r="2170" b="3969"/>
          <a:stretch>
            <a:fillRect/>
          </a:stretch>
        </p:blipFill>
        <p:spPr>
          <a:xfrm>
            <a:off x="6872747" y="4068837"/>
            <a:ext cx="4837471" cy="948815"/>
          </a:xfrm>
          <a:prstGeom prst="rect">
            <a:avLst/>
          </a:prstGeom>
        </p:spPr>
      </p:pic>
      <p:pic>
        <p:nvPicPr>
          <p:cNvPr id="13" name="Picture 12">
            <a:extLst>
              <a:ext uri="{FF2B5EF4-FFF2-40B4-BE49-F238E27FC236}">
                <a16:creationId xmlns:a16="http://schemas.microsoft.com/office/drawing/2014/main" id="{114B2F7A-EF4B-12B8-5698-57531A51A6FA}"/>
              </a:ext>
            </a:extLst>
          </p:cNvPr>
          <p:cNvPicPr>
            <a:picLocks noChangeAspect="1"/>
          </p:cNvPicPr>
          <p:nvPr/>
        </p:nvPicPr>
        <p:blipFill>
          <a:blip r:embed="rId5"/>
          <a:srcRect l="1519" t="3645" r="2195" b="2686"/>
          <a:stretch>
            <a:fillRect/>
          </a:stretch>
        </p:blipFill>
        <p:spPr>
          <a:xfrm>
            <a:off x="570271" y="2931732"/>
            <a:ext cx="5982929" cy="3344866"/>
          </a:xfrm>
          <a:prstGeom prst="rect">
            <a:avLst/>
          </a:prstGeom>
        </p:spPr>
      </p:pic>
      <p:sp>
        <p:nvSpPr>
          <p:cNvPr id="14" name="TextBox 13">
            <a:extLst>
              <a:ext uri="{FF2B5EF4-FFF2-40B4-BE49-F238E27FC236}">
                <a16:creationId xmlns:a16="http://schemas.microsoft.com/office/drawing/2014/main" id="{0FFEF0F5-59DE-43C5-8B09-78BB81E7B8A3}"/>
              </a:ext>
            </a:extLst>
          </p:cNvPr>
          <p:cNvSpPr txBox="1"/>
          <p:nvPr/>
        </p:nvSpPr>
        <p:spPr>
          <a:xfrm>
            <a:off x="570271" y="1170041"/>
            <a:ext cx="5982929" cy="1200329"/>
          </a:xfrm>
          <a:prstGeom prst="rect">
            <a:avLst/>
          </a:prstGeom>
          <a:noFill/>
        </p:spPr>
        <p:txBody>
          <a:bodyPr wrap="square" rtlCol="0">
            <a:spAutoFit/>
          </a:bodyPr>
          <a:lstStyle/>
          <a:p>
            <a:r>
              <a:rPr lang="en-IN" dirty="0"/>
              <a:t>Here are some of the findings I have seen why the content A performs better than the content B even with the same ratings is the engagement for the content A is slightly good when compared to content B (Likes, Shares, Comments)</a:t>
            </a:r>
          </a:p>
        </p:txBody>
      </p:sp>
      <p:pic>
        <p:nvPicPr>
          <p:cNvPr id="16" name="Picture 15">
            <a:extLst>
              <a:ext uri="{FF2B5EF4-FFF2-40B4-BE49-F238E27FC236}">
                <a16:creationId xmlns:a16="http://schemas.microsoft.com/office/drawing/2014/main" id="{95EF9A12-0ABB-A82E-AAE1-E91E23CA898B}"/>
              </a:ext>
            </a:extLst>
          </p:cNvPr>
          <p:cNvPicPr>
            <a:picLocks noChangeAspect="1"/>
          </p:cNvPicPr>
          <p:nvPr/>
        </p:nvPicPr>
        <p:blipFill>
          <a:blip r:embed="rId6"/>
          <a:srcRect l="1232" t="5662" r="2282" b="8790"/>
          <a:stretch>
            <a:fillRect/>
          </a:stretch>
        </p:blipFill>
        <p:spPr>
          <a:xfrm>
            <a:off x="6872747" y="5206180"/>
            <a:ext cx="4837471" cy="1070418"/>
          </a:xfrm>
          <a:prstGeom prst="rect">
            <a:avLst/>
          </a:prstGeom>
        </p:spPr>
      </p:pic>
    </p:spTree>
    <p:extLst>
      <p:ext uri="{BB962C8B-B14F-4D97-AF65-F5344CB8AC3E}">
        <p14:creationId xmlns:p14="http://schemas.microsoft.com/office/powerpoint/2010/main" val="2566532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88F839-F31A-3B41-0D56-9D97D7E0FAC7}"/>
              </a:ext>
            </a:extLst>
          </p:cNvPr>
          <p:cNvPicPr>
            <a:picLocks noChangeAspect="1"/>
          </p:cNvPicPr>
          <p:nvPr/>
        </p:nvPicPr>
        <p:blipFill>
          <a:blip r:embed="rId2"/>
          <a:srcRect r="2141" b="11570"/>
          <a:stretch>
            <a:fillRect/>
          </a:stretch>
        </p:blipFill>
        <p:spPr>
          <a:xfrm>
            <a:off x="6448246" y="883828"/>
            <a:ext cx="4642541" cy="1019317"/>
          </a:xfrm>
          <a:prstGeom prst="rect">
            <a:avLst/>
          </a:prstGeom>
        </p:spPr>
      </p:pic>
      <p:pic>
        <p:nvPicPr>
          <p:cNvPr id="5" name="Picture 4">
            <a:extLst>
              <a:ext uri="{FF2B5EF4-FFF2-40B4-BE49-F238E27FC236}">
                <a16:creationId xmlns:a16="http://schemas.microsoft.com/office/drawing/2014/main" id="{70E6948C-A5F3-F21B-395B-F9260FEB8624}"/>
              </a:ext>
            </a:extLst>
          </p:cNvPr>
          <p:cNvPicPr>
            <a:picLocks noChangeAspect="1"/>
          </p:cNvPicPr>
          <p:nvPr/>
        </p:nvPicPr>
        <p:blipFill>
          <a:blip r:embed="rId3"/>
          <a:stretch>
            <a:fillRect/>
          </a:stretch>
        </p:blipFill>
        <p:spPr>
          <a:xfrm>
            <a:off x="6453469" y="2123816"/>
            <a:ext cx="4637318" cy="1019317"/>
          </a:xfrm>
          <a:prstGeom prst="rect">
            <a:avLst/>
          </a:prstGeom>
        </p:spPr>
      </p:pic>
      <p:pic>
        <p:nvPicPr>
          <p:cNvPr id="7" name="Picture 6">
            <a:extLst>
              <a:ext uri="{FF2B5EF4-FFF2-40B4-BE49-F238E27FC236}">
                <a16:creationId xmlns:a16="http://schemas.microsoft.com/office/drawing/2014/main" id="{27C9B466-5B94-5F4D-E1F5-7AB64C2EF0AA}"/>
              </a:ext>
            </a:extLst>
          </p:cNvPr>
          <p:cNvPicPr>
            <a:picLocks noChangeAspect="1"/>
          </p:cNvPicPr>
          <p:nvPr/>
        </p:nvPicPr>
        <p:blipFill>
          <a:blip r:embed="rId4"/>
          <a:stretch>
            <a:fillRect/>
          </a:stretch>
        </p:blipFill>
        <p:spPr>
          <a:xfrm>
            <a:off x="6439180" y="3373923"/>
            <a:ext cx="4651607" cy="1105054"/>
          </a:xfrm>
          <a:prstGeom prst="rect">
            <a:avLst/>
          </a:prstGeom>
        </p:spPr>
      </p:pic>
      <p:pic>
        <p:nvPicPr>
          <p:cNvPr id="9" name="Picture 8">
            <a:extLst>
              <a:ext uri="{FF2B5EF4-FFF2-40B4-BE49-F238E27FC236}">
                <a16:creationId xmlns:a16="http://schemas.microsoft.com/office/drawing/2014/main" id="{641B33CF-6CFB-2BA3-42A4-D6C9042BB965}"/>
              </a:ext>
            </a:extLst>
          </p:cNvPr>
          <p:cNvPicPr>
            <a:picLocks noChangeAspect="1"/>
          </p:cNvPicPr>
          <p:nvPr/>
        </p:nvPicPr>
        <p:blipFill>
          <a:blip r:embed="rId5"/>
          <a:stretch>
            <a:fillRect/>
          </a:stretch>
        </p:blipFill>
        <p:spPr>
          <a:xfrm>
            <a:off x="6439180" y="4709767"/>
            <a:ext cx="4651607" cy="1105054"/>
          </a:xfrm>
          <a:prstGeom prst="rect">
            <a:avLst/>
          </a:prstGeom>
        </p:spPr>
      </p:pic>
      <p:sp>
        <p:nvSpPr>
          <p:cNvPr id="11" name="TextBox 10">
            <a:extLst>
              <a:ext uri="{FF2B5EF4-FFF2-40B4-BE49-F238E27FC236}">
                <a16:creationId xmlns:a16="http://schemas.microsoft.com/office/drawing/2014/main" id="{E467A76B-CBB1-28ED-25FB-BD0098B3389D}"/>
              </a:ext>
            </a:extLst>
          </p:cNvPr>
          <p:cNvSpPr txBox="1"/>
          <p:nvPr/>
        </p:nvSpPr>
        <p:spPr>
          <a:xfrm>
            <a:off x="526024" y="3883513"/>
            <a:ext cx="1641987" cy="624805"/>
          </a:xfrm>
          <a:prstGeom prst="rect">
            <a:avLst/>
          </a:prstGeom>
          <a:noFill/>
        </p:spPr>
        <p:txBody>
          <a:bodyPr wrap="square" rtlCol="0">
            <a:spAutoFit/>
          </a:bodyPr>
          <a:lstStyle/>
          <a:p>
            <a:endParaRPr lang="en-IN" dirty="0"/>
          </a:p>
        </p:txBody>
      </p:sp>
      <p:sp>
        <p:nvSpPr>
          <p:cNvPr id="12" name="TextBox 11">
            <a:extLst>
              <a:ext uri="{FF2B5EF4-FFF2-40B4-BE49-F238E27FC236}">
                <a16:creationId xmlns:a16="http://schemas.microsoft.com/office/drawing/2014/main" id="{44302512-42D3-E2D8-DF04-E153871BB585}"/>
              </a:ext>
            </a:extLst>
          </p:cNvPr>
          <p:cNvSpPr txBox="1"/>
          <p:nvPr/>
        </p:nvSpPr>
        <p:spPr>
          <a:xfrm>
            <a:off x="999642" y="1051822"/>
            <a:ext cx="1641987" cy="624805"/>
          </a:xfrm>
          <a:prstGeom prst="rect">
            <a:avLst/>
          </a:prstGeom>
          <a:noFill/>
        </p:spPr>
        <p:txBody>
          <a:bodyPr wrap="square" rtlCol="0">
            <a:spAutoFit/>
          </a:bodyPr>
          <a:lstStyle/>
          <a:p>
            <a:endParaRPr lang="en-IN" dirty="0"/>
          </a:p>
        </p:txBody>
      </p:sp>
      <p:sp>
        <p:nvSpPr>
          <p:cNvPr id="13" name="Arrow: Right 12">
            <a:extLst>
              <a:ext uri="{FF2B5EF4-FFF2-40B4-BE49-F238E27FC236}">
                <a16:creationId xmlns:a16="http://schemas.microsoft.com/office/drawing/2014/main" id="{50231C54-E0B0-4BD5-DB2F-C4D7A9EA63DE}"/>
              </a:ext>
            </a:extLst>
          </p:cNvPr>
          <p:cNvSpPr/>
          <p:nvPr/>
        </p:nvSpPr>
        <p:spPr>
          <a:xfrm>
            <a:off x="904568" y="491613"/>
            <a:ext cx="717755" cy="2261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AEF12751-0B2E-C97E-E7F6-7605EAE5AC27}"/>
              </a:ext>
            </a:extLst>
          </p:cNvPr>
          <p:cNvSpPr txBox="1"/>
          <p:nvPr/>
        </p:nvSpPr>
        <p:spPr>
          <a:xfrm>
            <a:off x="1820635" y="418043"/>
            <a:ext cx="8208268" cy="369332"/>
          </a:xfrm>
          <a:prstGeom prst="rect">
            <a:avLst/>
          </a:prstGeom>
          <a:noFill/>
        </p:spPr>
        <p:txBody>
          <a:bodyPr wrap="square">
            <a:spAutoFit/>
          </a:bodyPr>
          <a:lstStyle/>
          <a:p>
            <a:pPr algn="l" rtl="0" fontAlgn="base"/>
            <a:r>
              <a:rPr lang="en-US" b="1" i="1" dirty="0">
                <a:solidFill>
                  <a:srgbClr val="000000"/>
                </a:solidFill>
                <a:latin typeface="Sitka Display Semibold" pitchFamily="2" charset="0"/>
              </a:rPr>
              <a:t>Does promotional effort correlate with viewership or engagement?​</a:t>
            </a:r>
          </a:p>
        </p:txBody>
      </p:sp>
      <p:sp>
        <p:nvSpPr>
          <p:cNvPr id="16" name="TextBox 15">
            <a:extLst>
              <a:ext uri="{FF2B5EF4-FFF2-40B4-BE49-F238E27FC236}">
                <a16:creationId xmlns:a16="http://schemas.microsoft.com/office/drawing/2014/main" id="{E92FF0A1-84CB-BEDD-612D-6A308CBDDAA7}"/>
              </a:ext>
            </a:extLst>
          </p:cNvPr>
          <p:cNvSpPr txBox="1"/>
          <p:nvPr/>
        </p:nvSpPr>
        <p:spPr>
          <a:xfrm>
            <a:off x="999642" y="1051822"/>
            <a:ext cx="3739506" cy="923330"/>
          </a:xfrm>
          <a:prstGeom prst="rect">
            <a:avLst/>
          </a:prstGeom>
          <a:noFill/>
        </p:spPr>
        <p:txBody>
          <a:bodyPr wrap="square" rtlCol="0">
            <a:spAutoFit/>
          </a:bodyPr>
          <a:lstStyle/>
          <a:p>
            <a:r>
              <a:rPr lang="en-IN" dirty="0"/>
              <a:t>Here I find the correlation between the shares and the promotion related variables.</a:t>
            </a:r>
          </a:p>
        </p:txBody>
      </p:sp>
      <p:sp>
        <p:nvSpPr>
          <p:cNvPr id="17" name="Arrow: Right 16">
            <a:extLst>
              <a:ext uri="{FF2B5EF4-FFF2-40B4-BE49-F238E27FC236}">
                <a16:creationId xmlns:a16="http://schemas.microsoft.com/office/drawing/2014/main" id="{6D9D8EFF-317D-0527-3971-82D49EA52E91}"/>
              </a:ext>
            </a:extLst>
          </p:cNvPr>
          <p:cNvSpPr/>
          <p:nvPr/>
        </p:nvSpPr>
        <p:spPr>
          <a:xfrm>
            <a:off x="5384571" y="2593710"/>
            <a:ext cx="707922" cy="1081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B26C8DAF-9C22-79B8-3981-7199D20F2623}"/>
              </a:ext>
            </a:extLst>
          </p:cNvPr>
          <p:cNvSpPr txBox="1"/>
          <p:nvPr/>
        </p:nvSpPr>
        <p:spPr>
          <a:xfrm>
            <a:off x="999642" y="2234505"/>
            <a:ext cx="3739506" cy="923330"/>
          </a:xfrm>
          <a:prstGeom prst="rect">
            <a:avLst/>
          </a:prstGeom>
          <a:noFill/>
        </p:spPr>
        <p:txBody>
          <a:bodyPr wrap="square">
            <a:spAutoFit/>
          </a:bodyPr>
          <a:lstStyle/>
          <a:p>
            <a:r>
              <a:rPr lang="en-IN" dirty="0"/>
              <a:t>Here I find the correlation between the shares and the promotion related variables.</a:t>
            </a:r>
          </a:p>
        </p:txBody>
      </p:sp>
      <p:sp>
        <p:nvSpPr>
          <p:cNvPr id="21" name="TextBox 20">
            <a:extLst>
              <a:ext uri="{FF2B5EF4-FFF2-40B4-BE49-F238E27FC236}">
                <a16:creationId xmlns:a16="http://schemas.microsoft.com/office/drawing/2014/main" id="{503B8B79-7B77-F5DD-F5B0-A607126A1146}"/>
              </a:ext>
            </a:extLst>
          </p:cNvPr>
          <p:cNvSpPr txBox="1"/>
          <p:nvPr/>
        </p:nvSpPr>
        <p:spPr>
          <a:xfrm>
            <a:off x="999642" y="3549584"/>
            <a:ext cx="3739506" cy="923330"/>
          </a:xfrm>
          <a:prstGeom prst="rect">
            <a:avLst/>
          </a:prstGeom>
          <a:noFill/>
        </p:spPr>
        <p:txBody>
          <a:bodyPr wrap="square">
            <a:spAutoFit/>
          </a:bodyPr>
          <a:lstStyle/>
          <a:p>
            <a:r>
              <a:rPr lang="en-IN" dirty="0"/>
              <a:t>Here I find the correlation between the shares and the promotion related variables.</a:t>
            </a:r>
          </a:p>
        </p:txBody>
      </p:sp>
      <p:sp>
        <p:nvSpPr>
          <p:cNvPr id="23" name="TextBox 22">
            <a:extLst>
              <a:ext uri="{FF2B5EF4-FFF2-40B4-BE49-F238E27FC236}">
                <a16:creationId xmlns:a16="http://schemas.microsoft.com/office/drawing/2014/main" id="{A0AAE735-5628-7A50-F398-C9270F08AD7A}"/>
              </a:ext>
            </a:extLst>
          </p:cNvPr>
          <p:cNvSpPr txBox="1"/>
          <p:nvPr/>
        </p:nvSpPr>
        <p:spPr>
          <a:xfrm>
            <a:off x="999642" y="4817744"/>
            <a:ext cx="3739506" cy="923330"/>
          </a:xfrm>
          <a:prstGeom prst="rect">
            <a:avLst/>
          </a:prstGeom>
          <a:noFill/>
        </p:spPr>
        <p:txBody>
          <a:bodyPr wrap="square">
            <a:spAutoFit/>
          </a:bodyPr>
          <a:lstStyle/>
          <a:p>
            <a:r>
              <a:rPr lang="en-IN" dirty="0"/>
              <a:t>Here I find the correlation between the shares and the promotion related variables.</a:t>
            </a:r>
          </a:p>
        </p:txBody>
      </p:sp>
      <p:sp>
        <p:nvSpPr>
          <p:cNvPr id="24" name="Arrow: Right 23">
            <a:extLst>
              <a:ext uri="{FF2B5EF4-FFF2-40B4-BE49-F238E27FC236}">
                <a16:creationId xmlns:a16="http://schemas.microsoft.com/office/drawing/2014/main" id="{3AC5FD41-8F33-DBE2-E8DC-038DCDA9795B}"/>
              </a:ext>
            </a:extLst>
          </p:cNvPr>
          <p:cNvSpPr/>
          <p:nvPr/>
        </p:nvSpPr>
        <p:spPr>
          <a:xfrm>
            <a:off x="5398860" y="3871220"/>
            <a:ext cx="707922" cy="1081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Arrow: Right 24">
            <a:extLst>
              <a:ext uri="{FF2B5EF4-FFF2-40B4-BE49-F238E27FC236}">
                <a16:creationId xmlns:a16="http://schemas.microsoft.com/office/drawing/2014/main" id="{15E26A34-89C5-2D9D-7ADE-0063876E5DEF}"/>
              </a:ext>
            </a:extLst>
          </p:cNvPr>
          <p:cNvSpPr/>
          <p:nvPr/>
        </p:nvSpPr>
        <p:spPr>
          <a:xfrm>
            <a:off x="5384571" y="1256069"/>
            <a:ext cx="707922" cy="1081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Arrow: Right 25">
            <a:extLst>
              <a:ext uri="{FF2B5EF4-FFF2-40B4-BE49-F238E27FC236}">
                <a16:creationId xmlns:a16="http://schemas.microsoft.com/office/drawing/2014/main" id="{DE938145-E235-BFA8-B334-E78044259EA9}"/>
              </a:ext>
            </a:extLst>
          </p:cNvPr>
          <p:cNvSpPr/>
          <p:nvPr/>
        </p:nvSpPr>
        <p:spPr>
          <a:xfrm>
            <a:off x="5398860" y="5225331"/>
            <a:ext cx="707922" cy="1081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79319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84BC98-F8F4-07E6-30FE-F295B119B075}"/>
              </a:ext>
            </a:extLst>
          </p:cNvPr>
          <p:cNvPicPr>
            <a:picLocks noChangeAspect="1"/>
          </p:cNvPicPr>
          <p:nvPr/>
        </p:nvPicPr>
        <p:blipFill>
          <a:blip r:embed="rId2"/>
          <a:srcRect l="2252" t="5973" r="2252" b="4629"/>
          <a:stretch>
            <a:fillRect/>
          </a:stretch>
        </p:blipFill>
        <p:spPr>
          <a:xfrm>
            <a:off x="6184490" y="2113934"/>
            <a:ext cx="5614220" cy="3023420"/>
          </a:xfrm>
          <a:prstGeom prst="rect">
            <a:avLst/>
          </a:prstGeom>
        </p:spPr>
      </p:pic>
      <p:pic>
        <p:nvPicPr>
          <p:cNvPr id="5" name="Picture 4">
            <a:extLst>
              <a:ext uri="{FF2B5EF4-FFF2-40B4-BE49-F238E27FC236}">
                <a16:creationId xmlns:a16="http://schemas.microsoft.com/office/drawing/2014/main" id="{092D3FD3-E1CC-F869-7B43-B678C0AFD647}"/>
              </a:ext>
            </a:extLst>
          </p:cNvPr>
          <p:cNvPicPr>
            <a:picLocks noChangeAspect="1"/>
          </p:cNvPicPr>
          <p:nvPr/>
        </p:nvPicPr>
        <p:blipFill>
          <a:blip r:embed="rId3"/>
          <a:srcRect l="2710" t="4823" r="2418" b="4023"/>
          <a:stretch>
            <a:fillRect/>
          </a:stretch>
        </p:blipFill>
        <p:spPr>
          <a:xfrm>
            <a:off x="393290" y="2113934"/>
            <a:ext cx="5614219" cy="3023420"/>
          </a:xfrm>
          <a:prstGeom prst="rect">
            <a:avLst/>
          </a:prstGeom>
        </p:spPr>
      </p:pic>
      <p:sp>
        <p:nvSpPr>
          <p:cNvPr id="7" name="TextBox 6">
            <a:extLst>
              <a:ext uri="{FF2B5EF4-FFF2-40B4-BE49-F238E27FC236}">
                <a16:creationId xmlns:a16="http://schemas.microsoft.com/office/drawing/2014/main" id="{42760008-8AF3-2EA3-36CC-9378E230DEFF}"/>
              </a:ext>
            </a:extLst>
          </p:cNvPr>
          <p:cNvSpPr txBox="1"/>
          <p:nvPr/>
        </p:nvSpPr>
        <p:spPr>
          <a:xfrm>
            <a:off x="835741" y="384757"/>
            <a:ext cx="10559846" cy="400110"/>
          </a:xfrm>
          <a:prstGeom prst="rect">
            <a:avLst/>
          </a:prstGeom>
          <a:noFill/>
        </p:spPr>
        <p:txBody>
          <a:bodyPr wrap="square">
            <a:spAutoFit/>
          </a:bodyPr>
          <a:lstStyle/>
          <a:p>
            <a:pPr algn="ctr"/>
            <a:r>
              <a:rPr lang="en-US" sz="2000" u="sng" dirty="0">
                <a:solidFill>
                  <a:schemeClr val="accent5">
                    <a:lumMod val="50000"/>
                  </a:schemeClr>
                </a:solidFill>
                <a:latin typeface="Mongolian Baiti" panose="03000500000000000000" pitchFamily="66" charset="0"/>
                <a:cs typeface="Mongolian Baiti" panose="03000500000000000000" pitchFamily="66" charset="0"/>
              </a:rPr>
              <a:t>My observations on how promotional effect correlate with the views and engagement</a:t>
            </a:r>
            <a:endParaRPr lang="en-IN" sz="2000" u="sng" dirty="0">
              <a:solidFill>
                <a:schemeClr val="accent5">
                  <a:lumMod val="50000"/>
                </a:schemeClr>
              </a:solidFill>
              <a:latin typeface="Mongolian Baiti" panose="03000500000000000000" pitchFamily="66" charset="0"/>
              <a:cs typeface="Mongolian Baiti" panose="03000500000000000000" pitchFamily="66" charset="0"/>
            </a:endParaRPr>
          </a:p>
        </p:txBody>
      </p:sp>
      <p:sp>
        <p:nvSpPr>
          <p:cNvPr id="13" name="TextBox 12">
            <a:extLst>
              <a:ext uri="{FF2B5EF4-FFF2-40B4-BE49-F238E27FC236}">
                <a16:creationId xmlns:a16="http://schemas.microsoft.com/office/drawing/2014/main" id="{3D60E0FC-39BE-C1E4-D883-F9910BE5DA0A}"/>
              </a:ext>
            </a:extLst>
          </p:cNvPr>
          <p:cNvSpPr txBox="1"/>
          <p:nvPr/>
        </p:nvSpPr>
        <p:spPr>
          <a:xfrm>
            <a:off x="540774" y="1022555"/>
            <a:ext cx="11110452" cy="646331"/>
          </a:xfrm>
          <a:prstGeom prst="rect">
            <a:avLst/>
          </a:prstGeom>
          <a:noFill/>
        </p:spPr>
        <p:txBody>
          <a:bodyPr wrap="square" rtlCol="0">
            <a:spAutoFit/>
          </a:bodyPr>
          <a:lstStyle/>
          <a:p>
            <a:r>
              <a:rPr lang="en-IN" dirty="0"/>
              <a:t>Here what observed in the data is the email campaign has huge number of engagement (Views, Shares, Likes, Comments)</a:t>
            </a:r>
          </a:p>
        </p:txBody>
      </p:sp>
    </p:spTree>
    <p:extLst>
      <p:ext uri="{BB962C8B-B14F-4D97-AF65-F5344CB8AC3E}">
        <p14:creationId xmlns:p14="http://schemas.microsoft.com/office/powerpoint/2010/main" val="2720268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sp>
        <p:nvSpPr>
          <p:cNvPr id="2" name="Arrow: Right 1">
            <a:extLst>
              <a:ext uri="{FF2B5EF4-FFF2-40B4-BE49-F238E27FC236}">
                <a16:creationId xmlns:a16="http://schemas.microsoft.com/office/drawing/2014/main" id="{C76466F4-C692-950C-5A39-24ACE22E03E5}"/>
              </a:ext>
            </a:extLst>
          </p:cNvPr>
          <p:cNvSpPr/>
          <p:nvPr/>
        </p:nvSpPr>
        <p:spPr>
          <a:xfrm>
            <a:off x="796413" y="589935"/>
            <a:ext cx="776748" cy="1868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F3FBEF2-90B6-79E1-E1BE-83EBE8A72899}"/>
              </a:ext>
            </a:extLst>
          </p:cNvPr>
          <p:cNvSpPr txBox="1"/>
          <p:nvPr/>
        </p:nvSpPr>
        <p:spPr>
          <a:xfrm>
            <a:off x="1789471" y="453582"/>
            <a:ext cx="6784258" cy="369332"/>
          </a:xfrm>
          <a:prstGeom prst="rect">
            <a:avLst/>
          </a:prstGeom>
          <a:noFill/>
        </p:spPr>
        <p:txBody>
          <a:bodyPr wrap="square">
            <a:spAutoFit/>
          </a:bodyPr>
          <a:lstStyle/>
          <a:p>
            <a:pPr fontAlgn="base"/>
            <a:r>
              <a:rPr lang="en-US" b="1" i="1" dirty="0">
                <a:solidFill>
                  <a:srgbClr val="000000"/>
                </a:solidFill>
                <a:latin typeface="Sitka Display Semibold" pitchFamily="2" charset="0"/>
              </a:rPr>
              <a:t>Is there a relationship between content duration and completion rate?​</a:t>
            </a:r>
          </a:p>
        </p:txBody>
      </p:sp>
      <p:pic>
        <p:nvPicPr>
          <p:cNvPr id="7" name="Picture 6">
            <a:extLst>
              <a:ext uri="{FF2B5EF4-FFF2-40B4-BE49-F238E27FC236}">
                <a16:creationId xmlns:a16="http://schemas.microsoft.com/office/drawing/2014/main" id="{CC5A5D19-B068-DE59-EAC3-AD66712731FB}"/>
              </a:ext>
            </a:extLst>
          </p:cNvPr>
          <p:cNvPicPr>
            <a:picLocks noChangeAspect="1"/>
          </p:cNvPicPr>
          <p:nvPr/>
        </p:nvPicPr>
        <p:blipFill>
          <a:blip r:embed="rId2"/>
          <a:srcRect l="2005"/>
          <a:stretch>
            <a:fillRect/>
          </a:stretch>
        </p:blipFill>
        <p:spPr>
          <a:xfrm>
            <a:off x="5624052" y="1268361"/>
            <a:ext cx="6164825" cy="920440"/>
          </a:xfrm>
          <a:prstGeom prst="rect">
            <a:avLst/>
          </a:prstGeom>
        </p:spPr>
      </p:pic>
      <p:sp>
        <p:nvSpPr>
          <p:cNvPr id="9" name="Arrow: Right 8">
            <a:extLst>
              <a:ext uri="{FF2B5EF4-FFF2-40B4-BE49-F238E27FC236}">
                <a16:creationId xmlns:a16="http://schemas.microsoft.com/office/drawing/2014/main" id="{926F1792-7EFA-8168-410E-484EDCC81747}"/>
              </a:ext>
            </a:extLst>
          </p:cNvPr>
          <p:cNvSpPr/>
          <p:nvPr/>
        </p:nvSpPr>
        <p:spPr>
          <a:xfrm>
            <a:off x="4788310" y="1445342"/>
            <a:ext cx="393290" cy="1671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42F73C73-7944-3114-172D-550B36BE4B9F}"/>
              </a:ext>
            </a:extLst>
          </p:cNvPr>
          <p:cNvSpPr txBox="1"/>
          <p:nvPr/>
        </p:nvSpPr>
        <p:spPr>
          <a:xfrm>
            <a:off x="904568" y="1268361"/>
            <a:ext cx="3441290" cy="1323439"/>
          </a:xfrm>
          <a:prstGeom prst="rect">
            <a:avLst/>
          </a:prstGeom>
          <a:noFill/>
        </p:spPr>
        <p:txBody>
          <a:bodyPr wrap="square" rtlCol="0">
            <a:spAutoFit/>
          </a:bodyPr>
          <a:lstStyle/>
          <a:p>
            <a:r>
              <a:rPr lang="en-US" sz="1600" dirty="0"/>
              <a:t>Since the value is positive, it means as film duration increases, average watch time also tends to increase.</a:t>
            </a:r>
            <a:br>
              <a:rPr lang="en-US" sz="1600" dirty="0"/>
            </a:br>
            <a:r>
              <a:rPr lang="en-US" sz="1600" dirty="0"/>
              <a:t>But because 0.34 is not close to 1, the relationship is not strong</a:t>
            </a:r>
            <a:endParaRPr lang="en-IN" sz="1600" dirty="0"/>
          </a:p>
        </p:txBody>
      </p:sp>
      <p:sp>
        <p:nvSpPr>
          <p:cNvPr id="11" name="Arrow: Right 10">
            <a:extLst>
              <a:ext uri="{FF2B5EF4-FFF2-40B4-BE49-F238E27FC236}">
                <a16:creationId xmlns:a16="http://schemas.microsoft.com/office/drawing/2014/main" id="{7183EC14-D801-D39B-1030-E13A25D11FEB}"/>
              </a:ext>
            </a:extLst>
          </p:cNvPr>
          <p:cNvSpPr/>
          <p:nvPr/>
        </p:nvSpPr>
        <p:spPr>
          <a:xfrm>
            <a:off x="796413" y="2831690"/>
            <a:ext cx="776748" cy="1868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A47532D0-741B-5CF0-D95D-D1F585D91FF7}"/>
              </a:ext>
            </a:extLst>
          </p:cNvPr>
          <p:cNvSpPr txBox="1"/>
          <p:nvPr/>
        </p:nvSpPr>
        <p:spPr>
          <a:xfrm>
            <a:off x="1789471" y="2752036"/>
            <a:ext cx="6243484" cy="369332"/>
          </a:xfrm>
          <a:prstGeom prst="rect">
            <a:avLst/>
          </a:prstGeom>
          <a:noFill/>
        </p:spPr>
        <p:txBody>
          <a:bodyPr wrap="square">
            <a:spAutoFit/>
          </a:bodyPr>
          <a:lstStyle/>
          <a:p>
            <a:pPr algn="l" rtl="0" fontAlgn="base"/>
            <a:r>
              <a:rPr lang="en-US" b="1" i="1" dirty="0">
                <a:solidFill>
                  <a:srgbClr val="000000"/>
                </a:solidFill>
                <a:latin typeface="Sitka Display Semibold" pitchFamily="2" charset="0"/>
              </a:rPr>
              <a:t>Are poor-performing contents linked to certain times or days?​</a:t>
            </a:r>
          </a:p>
        </p:txBody>
      </p:sp>
      <p:sp>
        <p:nvSpPr>
          <p:cNvPr id="14" name="TextBox 13">
            <a:extLst>
              <a:ext uri="{FF2B5EF4-FFF2-40B4-BE49-F238E27FC236}">
                <a16:creationId xmlns:a16="http://schemas.microsoft.com/office/drawing/2014/main" id="{090E3A0D-77E3-AF3D-6D92-796017996B83}"/>
              </a:ext>
            </a:extLst>
          </p:cNvPr>
          <p:cNvSpPr txBox="1"/>
          <p:nvPr/>
        </p:nvSpPr>
        <p:spPr>
          <a:xfrm>
            <a:off x="904568" y="3789147"/>
            <a:ext cx="3038167" cy="1754326"/>
          </a:xfrm>
          <a:prstGeom prst="rect">
            <a:avLst/>
          </a:prstGeom>
          <a:noFill/>
        </p:spPr>
        <p:txBody>
          <a:bodyPr wrap="square" rtlCol="0">
            <a:spAutoFit/>
          </a:bodyPr>
          <a:lstStyle/>
          <a:p>
            <a:r>
              <a:rPr lang="en-IN" b="1" dirty="0"/>
              <a:t>Bins for Viewership variable:</a:t>
            </a:r>
            <a:br>
              <a:rPr lang="en-IN" dirty="0"/>
            </a:br>
            <a:r>
              <a:rPr lang="en-IN" dirty="0"/>
              <a:t>-37.907, 20043.4 : 1, </a:t>
            </a:r>
          </a:p>
          <a:p>
            <a:r>
              <a:rPr lang="en-IN" dirty="0"/>
              <a:t>20043.4, 40024.8 : 2,    </a:t>
            </a:r>
          </a:p>
          <a:p>
            <a:r>
              <a:rPr lang="en-IN" dirty="0"/>
              <a:t>40024.8, 60006.2 : 3,             </a:t>
            </a:r>
          </a:p>
          <a:p>
            <a:r>
              <a:rPr lang="en-IN" dirty="0"/>
              <a:t>60006.2, 79987.6 : 4,       </a:t>
            </a:r>
          </a:p>
          <a:p>
            <a:r>
              <a:rPr lang="en-IN" dirty="0"/>
              <a:t> 79987.6, 99969.0 : 5</a:t>
            </a:r>
          </a:p>
        </p:txBody>
      </p:sp>
      <p:sp>
        <p:nvSpPr>
          <p:cNvPr id="16" name="TextBox 15">
            <a:extLst>
              <a:ext uri="{FF2B5EF4-FFF2-40B4-BE49-F238E27FC236}">
                <a16:creationId xmlns:a16="http://schemas.microsoft.com/office/drawing/2014/main" id="{A1436388-48ED-2246-7FE3-420FEDE17E36}"/>
              </a:ext>
            </a:extLst>
          </p:cNvPr>
          <p:cNvSpPr txBox="1"/>
          <p:nvPr/>
        </p:nvSpPr>
        <p:spPr>
          <a:xfrm>
            <a:off x="1229032" y="3108293"/>
            <a:ext cx="10441858" cy="369332"/>
          </a:xfrm>
          <a:prstGeom prst="rect">
            <a:avLst/>
          </a:prstGeom>
          <a:noFill/>
        </p:spPr>
        <p:txBody>
          <a:bodyPr wrap="square">
            <a:spAutoFit/>
          </a:bodyPr>
          <a:lstStyle/>
          <a:p>
            <a:r>
              <a:rPr lang="en-IN" dirty="0"/>
              <a:t>For this analysis I have made a five bins for Viewership, Shares, Likes, Comments. The bins structure as follows:</a:t>
            </a:r>
          </a:p>
        </p:txBody>
      </p:sp>
      <p:pic>
        <p:nvPicPr>
          <p:cNvPr id="18" name="Picture 17">
            <a:extLst>
              <a:ext uri="{FF2B5EF4-FFF2-40B4-BE49-F238E27FC236}">
                <a16:creationId xmlns:a16="http://schemas.microsoft.com/office/drawing/2014/main" id="{22F8E460-110A-6490-2B0A-92430D563DEB}"/>
              </a:ext>
            </a:extLst>
          </p:cNvPr>
          <p:cNvPicPr>
            <a:picLocks noChangeAspect="1"/>
          </p:cNvPicPr>
          <p:nvPr/>
        </p:nvPicPr>
        <p:blipFill>
          <a:blip r:embed="rId3"/>
          <a:stretch>
            <a:fillRect/>
          </a:stretch>
        </p:blipFill>
        <p:spPr>
          <a:xfrm>
            <a:off x="4090219" y="4106317"/>
            <a:ext cx="7580671" cy="1306341"/>
          </a:xfrm>
          <a:prstGeom prst="rect">
            <a:avLst/>
          </a:prstGeom>
        </p:spPr>
      </p:pic>
    </p:spTree>
    <p:extLst>
      <p:ext uri="{BB962C8B-B14F-4D97-AF65-F5344CB8AC3E}">
        <p14:creationId xmlns:p14="http://schemas.microsoft.com/office/powerpoint/2010/main" val="1810479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4AB2529-E5DF-5E11-D008-FEE370E5BA50}"/>
              </a:ext>
            </a:extLst>
          </p:cNvPr>
          <p:cNvSpPr txBox="1"/>
          <p:nvPr/>
        </p:nvSpPr>
        <p:spPr>
          <a:xfrm>
            <a:off x="865240" y="707923"/>
            <a:ext cx="3018502" cy="1754326"/>
          </a:xfrm>
          <a:prstGeom prst="rect">
            <a:avLst/>
          </a:prstGeom>
          <a:noFill/>
        </p:spPr>
        <p:txBody>
          <a:bodyPr wrap="square">
            <a:spAutoFit/>
          </a:bodyPr>
          <a:lstStyle/>
          <a:p>
            <a:r>
              <a:rPr lang="en-IN" b="1" dirty="0"/>
              <a:t>Bins for Likes variable:</a:t>
            </a:r>
            <a:endParaRPr lang="en-IN" dirty="0"/>
          </a:p>
          <a:p>
            <a:r>
              <a:rPr lang="en-IN" dirty="0"/>
              <a:t>8.013, 608.4 : 1,  </a:t>
            </a:r>
          </a:p>
          <a:p>
            <a:r>
              <a:rPr lang="en-IN" dirty="0"/>
              <a:t>608.4, 1205.8 : 2,</a:t>
            </a:r>
          </a:p>
          <a:p>
            <a:r>
              <a:rPr lang="en-IN" dirty="0"/>
              <a:t>1205.8, 1803.2 : 3,                </a:t>
            </a:r>
          </a:p>
          <a:p>
            <a:r>
              <a:rPr lang="en-IN" dirty="0"/>
              <a:t>1803.2, 2400.6 : 4,            </a:t>
            </a:r>
          </a:p>
          <a:p>
            <a:r>
              <a:rPr lang="en-IN" dirty="0"/>
              <a:t>2400.6, 2998.0 : 5</a:t>
            </a:r>
          </a:p>
        </p:txBody>
      </p:sp>
      <p:pic>
        <p:nvPicPr>
          <p:cNvPr id="7" name="Picture 6">
            <a:extLst>
              <a:ext uri="{FF2B5EF4-FFF2-40B4-BE49-F238E27FC236}">
                <a16:creationId xmlns:a16="http://schemas.microsoft.com/office/drawing/2014/main" id="{7FFABBD2-264B-7513-DAAF-1F64D9FC9E3B}"/>
              </a:ext>
            </a:extLst>
          </p:cNvPr>
          <p:cNvPicPr>
            <a:picLocks noChangeAspect="1"/>
          </p:cNvPicPr>
          <p:nvPr/>
        </p:nvPicPr>
        <p:blipFill>
          <a:blip r:embed="rId2"/>
          <a:stretch>
            <a:fillRect/>
          </a:stretch>
        </p:blipFill>
        <p:spPr>
          <a:xfrm>
            <a:off x="4222944" y="707923"/>
            <a:ext cx="7103816" cy="1450333"/>
          </a:xfrm>
          <a:prstGeom prst="rect">
            <a:avLst/>
          </a:prstGeom>
        </p:spPr>
      </p:pic>
      <p:sp>
        <p:nvSpPr>
          <p:cNvPr id="9" name="TextBox 8">
            <a:extLst>
              <a:ext uri="{FF2B5EF4-FFF2-40B4-BE49-F238E27FC236}">
                <a16:creationId xmlns:a16="http://schemas.microsoft.com/office/drawing/2014/main" id="{B17B06EA-5787-ACAC-1F92-1532FF8C68D3}"/>
              </a:ext>
            </a:extLst>
          </p:cNvPr>
          <p:cNvSpPr txBox="1"/>
          <p:nvPr/>
        </p:nvSpPr>
        <p:spPr>
          <a:xfrm>
            <a:off x="865240" y="2812026"/>
            <a:ext cx="3018502" cy="1754326"/>
          </a:xfrm>
          <a:prstGeom prst="rect">
            <a:avLst/>
          </a:prstGeom>
          <a:noFill/>
        </p:spPr>
        <p:txBody>
          <a:bodyPr wrap="square">
            <a:spAutoFit/>
          </a:bodyPr>
          <a:lstStyle/>
          <a:p>
            <a:r>
              <a:rPr lang="en-IN" b="1" dirty="0"/>
              <a:t>Bins for Comments variable:</a:t>
            </a:r>
            <a:endParaRPr lang="en-IN" dirty="0"/>
          </a:p>
          <a:p>
            <a:r>
              <a:rPr lang="en-IN" dirty="0"/>
              <a:t>0.503, 301.4 : 1,  </a:t>
            </a:r>
          </a:p>
          <a:p>
            <a:r>
              <a:rPr lang="en-IN" dirty="0"/>
              <a:t>301.4, 600.8 : 2, </a:t>
            </a:r>
          </a:p>
          <a:p>
            <a:r>
              <a:rPr lang="en-IN" dirty="0"/>
              <a:t>600.8, 900.2 : 3,                  </a:t>
            </a:r>
          </a:p>
          <a:p>
            <a:r>
              <a:rPr lang="en-IN" dirty="0"/>
              <a:t>900.2, 1199.6 : 4</a:t>
            </a:r>
          </a:p>
          <a:p>
            <a:r>
              <a:rPr lang="en-IN" dirty="0"/>
              <a:t>1199.6, 1499.0 : 5</a:t>
            </a:r>
          </a:p>
        </p:txBody>
      </p:sp>
      <p:pic>
        <p:nvPicPr>
          <p:cNvPr id="11" name="Picture 10">
            <a:extLst>
              <a:ext uri="{FF2B5EF4-FFF2-40B4-BE49-F238E27FC236}">
                <a16:creationId xmlns:a16="http://schemas.microsoft.com/office/drawing/2014/main" id="{118D59D7-4CA4-B5B9-775C-680C3249B57B}"/>
              </a:ext>
            </a:extLst>
          </p:cNvPr>
          <p:cNvPicPr>
            <a:picLocks noChangeAspect="1"/>
          </p:cNvPicPr>
          <p:nvPr/>
        </p:nvPicPr>
        <p:blipFill>
          <a:blip r:embed="rId3"/>
          <a:stretch>
            <a:fillRect/>
          </a:stretch>
        </p:blipFill>
        <p:spPr>
          <a:xfrm>
            <a:off x="4122264" y="2812026"/>
            <a:ext cx="7204496" cy="1582993"/>
          </a:xfrm>
          <a:prstGeom prst="rect">
            <a:avLst/>
          </a:prstGeom>
        </p:spPr>
      </p:pic>
      <p:sp>
        <p:nvSpPr>
          <p:cNvPr id="13" name="TextBox 12">
            <a:extLst>
              <a:ext uri="{FF2B5EF4-FFF2-40B4-BE49-F238E27FC236}">
                <a16:creationId xmlns:a16="http://schemas.microsoft.com/office/drawing/2014/main" id="{DF6B6017-E5F7-A7C8-EC01-AC4315F6BA19}"/>
              </a:ext>
            </a:extLst>
          </p:cNvPr>
          <p:cNvSpPr txBox="1"/>
          <p:nvPr/>
        </p:nvSpPr>
        <p:spPr>
          <a:xfrm>
            <a:off x="865240" y="4916129"/>
            <a:ext cx="3018502" cy="1754326"/>
          </a:xfrm>
          <a:prstGeom prst="rect">
            <a:avLst/>
          </a:prstGeom>
          <a:noFill/>
        </p:spPr>
        <p:txBody>
          <a:bodyPr wrap="square">
            <a:spAutoFit/>
          </a:bodyPr>
          <a:lstStyle/>
          <a:p>
            <a:r>
              <a:rPr lang="en-IN" b="1" dirty="0"/>
              <a:t>Bins for Shares variable:</a:t>
            </a:r>
            <a:endParaRPr lang="en-IN" dirty="0"/>
          </a:p>
          <a:p>
            <a:r>
              <a:rPr lang="en-IN" dirty="0"/>
              <a:t>2.005, 403.0 : 1,</a:t>
            </a:r>
          </a:p>
          <a:p>
            <a:r>
              <a:rPr lang="en-IN" dirty="0"/>
              <a:t>403.0, 802.0 : 2,          </a:t>
            </a:r>
          </a:p>
          <a:p>
            <a:r>
              <a:rPr lang="en-IN" dirty="0"/>
              <a:t>802.0, 1201.0 : 3,                   </a:t>
            </a:r>
          </a:p>
          <a:p>
            <a:r>
              <a:rPr lang="en-IN" dirty="0"/>
              <a:t>1201.0, 1600.0 : 4, </a:t>
            </a:r>
          </a:p>
          <a:p>
            <a:r>
              <a:rPr lang="en-IN" dirty="0"/>
              <a:t>1600.0, 1999.0 : 5</a:t>
            </a:r>
          </a:p>
        </p:txBody>
      </p:sp>
      <p:pic>
        <p:nvPicPr>
          <p:cNvPr id="15" name="Picture 14">
            <a:extLst>
              <a:ext uri="{FF2B5EF4-FFF2-40B4-BE49-F238E27FC236}">
                <a16:creationId xmlns:a16="http://schemas.microsoft.com/office/drawing/2014/main" id="{A52A2330-50F8-5EA6-7539-7DD5BDE3E612}"/>
              </a:ext>
            </a:extLst>
          </p:cNvPr>
          <p:cNvPicPr>
            <a:picLocks noChangeAspect="1"/>
          </p:cNvPicPr>
          <p:nvPr/>
        </p:nvPicPr>
        <p:blipFill>
          <a:blip r:embed="rId4"/>
          <a:stretch>
            <a:fillRect/>
          </a:stretch>
        </p:blipFill>
        <p:spPr>
          <a:xfrm>
            <a:off x="4122264" y="5048789"/>
            <a:ext cx="7192379" cy="1582993"/>
          </a:xfrm>
          <a:prstGeom prst="rect">
            <a:avLst/>
          </a:prstGeom>
        </p:spPr>
      </p:pic>
    </p:spTree>
    <p:extLst>
      <p:ext uri="{BB962C8B-B14F-4D97-AF65-F5344CB8AC3E}">
        <p14:creationId xmlns:p14="http://schemas.microsoft.com/office/powerpoint/2010/main" val="3901888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70CA58-7C6B-1BA2-DB2D-FEAA4199AE2B}"/>
              </a:ext>
            </a:extLst>
          </p:cNvPr>
          <p:cNvSpPr txBox="1"/>
          <p:nvPr/>
        </p:nvSpPr>
        <p:spPr>
          <a:xfrm>
            <a:off x="3195484" y="474095"/>
            <a:ext cx="6096000" cy="461665"/>
          </a:xfrm>
          <a:prstGeom prst="rect">
            <a:avLst/>
          </a:prstGeom>
          <a:noFill/>
        </p:spPr>
        <p:txBody>
          <a:bodyPr wrap="square">
            <a:spAutoFit/>
          </a:bodyPr>
          <a:lstStyle/>
          <a:p>
            <a:pPr algn="ctr"/>
            <a:r>
              <a:rPr lang="en-IN" sz="2400" u="sng" dirty="0">
                <a:solidFill>
                  <a:schemeClr val="accent5">
                    <a:lumMod val="50000"/>
                  </a:schemeClr>
                </a:solidFill>
                <a:latin typeface="Mongolian Baiti" panose="03000500000000000000" pitchFamily="66" charset="0"/>
                <a:cs typeface="Mongolian Baiti" panose="03000500000000000000" pitchFamily="66" charset="0"/>
              </a:rPr>
              <a:t>My Observation:</a:t>
            </a:r>
          </a:p>
        </p:txBody>
      </p:sp>
      <p:pic>
        <p:nvPicPr>
          <p:cNvPr id="5" name="Picture 4">
            <a:extLst>
              <a:ext uri="{FF2B5EF4-FFF2-40B4-BE49-F238E27FC236}">
                <a16:creationId xmlns:a16="http://schemas.microsoft.com/office/drawing/2014/main" id="{C0963B14-FE5B-F56E-84DF-4B5250A264EA}"/>
              </a:ext>
            </a:extLst>
          </p:cNvPr>
          <p:cNvPicPr>
            <a:picLocks noChangeAspect="1"/>
          </p:cNvPicPr>
          <p:nvPr/>
        </p:nvPicPr>
        <p:blipFill>
          <a:blip r:embed="rId2"/>
          <a:stretch>
            <a:fillRect/>
          </a:stretch>
        </p:blipFill>
        <p:spPr>
          <a:xfrm>
            <a:off x="379044" y="1911302"/>
            <a:ext cx="2668073" cy="3894626"/>
          </a:xfrm>
          <a:prstGeom prst="rect">
            <a:avLst/>
          </a:prstGeom>
        </p:spPr>
      </p:pic>
      <p:pic>
        <p:nvPicPr>
          <p:cNvPr id="7" name="Picture 6">
            <a:extLst>
              <a:ext uri="{FF2B5EF4-FFF2-40B4-BE49-F238E27FC236}">
                <a16:creationId xmlns:a16="http://schemas.microsoft.com/office/drawing/2014/main" id="{2820BE9F-9C63-9481-EE78-0CA5B2BD1C64}"/>
              </a:ext>
            </a:extLst>
          </p:cNvPr>
          <p:cNvPicPr>
            <a:picLocks noChangeAspect="1"/>
          </p:cNvPicPr>
          <p:nvPr/>
        </p:nvPicPr>
        <p:blipFill>
          <a:blip r:embed="rId3"/>
          <a:stretch>
            <a:fillRect/>
          </a:stretch>
        </p:blipFill>
        <p:spPr>
          <a:xfrm>
            <a:off x="3311264" y="1938341"/>
            <a:ext cx="2668073" cy="3894626"/>
          </a:xfrm>
          <a:prstGeom prst="rect">
            <a:avLst/>
          </a:prstGeom>
        </p:spPr>
      </p:pic>
      <p:pic>
        <p:nvPicPr>
          <p:cNvPr id="9" name="Picture 8">
            <a:extLst>
              <a:ext uri="{FF2B5EF4-FFF2-40B4-BE49-F238E27FC236}">
                <a16:creationId xmlns:a16="http://schemas.microsoft.com/office/drawing/2014/main" id="{64CFC86B-7510-C280-4534-C3BA855EEEB6}"/>
              </a:ext>
            </a:extLst>
          </p:cNvPr>
          <p:cNvPicPr>
            <a:picLocks noChangeAspect="1"/>
          </p:cNvPicPr>
          <p:nvPr/>
        </p:nvPicPr>
        <p:blipFill>
          <a:blip r:embed="rId4"/>
          <a:stretch>
            <a:fillRect/>
          </a:stretch>
        </p:blipFill>
        <p:spPr>
          <a:xfrm>
            <a:off x="6243484" y="1938341"/>
            <a:ext cx="2668073" cy="3894626"/>
          </a:xfrm>
          <a:prstGeom prst="rect">
            <a:avLst/>
          </a:prstGeom>
        </p:spPr>
      </p:pic>
      <p:pic>
        <p:nvPicPr>
          <p:cNvPr id="11" name="Picture 10">
            <a:extLst>
              <a:ext uri="{FF2B5EF4-FFF2-40B4-BE49-F238E27FC236}">
                <a16:creationId xmlns:a16="http://schemas.microsoft.com/office/drawing/2014/main" id="{37F28785-D4DF-0608-5E0B-DBA763887EF7}"/>
              </a:ext>
            </a:extLst>
          </p:cNvPr>
          <p:cNvPicPr>
            <a:picLocks noChangeAspect="1"/>
          </p:cNvPicPr>
          <p:nvPr/>
        </p:nvPicPr>
        <p:blipFill>
          <a:blip r:embed="rId5"/>
          <a:stretch>
            <a:fillRect/>
          </a:stretch>
        </p:blipFill>
        <p:spPr>
          <a:xfrm>
            <a:off x="9175704" y="1911302"/>
            <a:ext cx="2668074" cy="3894626"/>
          </a:xfrm>
          <a:prstGeom prst="rect">
            <a:avLst/>
          </a:prstGeom>
        </p:spPr>
      </p:pic>
      <p:sp>
        <p:nvSpPr>
          <p:cNvPr id="12" name="TextBox 11">
            <a:extLst>
              <a:ext uri="{FF2B5EF4-FFF2-40B4-BE49-F238E27FC236}">
                <a16:creationId xmlns:a16="http://schemas.microsoft.com/office/drawing/2014/main" id="{72354889-17AF-9B88-251A-499F682B021E}"/>
              </a:ext>
            </a:extLst>
          </p:cNvPr>
          <p:cNvSpPr txBox="1"/>
          <p:nvPr/>
        </p:nvSpPr>
        <p:spPr>
          <a:xfrm>
            <a:off x="521110" y="1238865"/>
            <a:ext cx="11169445" cy="369332"/>
          </a:xfrm>
          <a:prstGeom prst="rect">
            <a:avLst/>
          </a:prstGeom>
          <a:noFill/>
        </p:spPr>
        <p:txBody>
          <a:bodyPr wrap="square" rtlCol="0">
            <a:spAutoFit/>
          </a:bodyPr>
          <a:lstStyle/>
          <a:p>
            <a:r>
              <a:rPr lang="en-IN" dirty="0"/>
              <a:t>Here in most of the engagement types we are getting low value of responses on weekdays</a:t>
            </a:r>
          </a:p>
        </p:txBody>
      </p:sp>
    </p:spTree>
    <p:extLst>
      <p:ext uri="{BB962C8B-B14F-4D97-AF65-F5344CB8AC3E}">
        <p14:creationId xmlns:p14="http://schemas.microsoft.com/office/powerpoint/2010/main" val="3231821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6CAB18-517A-B738-7EAF-250456405D22}"/>
              </a:ext>
            </a:extLst>
          </p:cNvPr>
          <p:cNvPicPr>
            <a:picLocks noChangeAspect="1"/>
          </p:cNvPicPr>
          <p:nvPr/>
        </p:nvPicPr>
        <p:blipFill>
          <a:blip r:embed="rId2"/>
          <a:srcRect l="1577" t="3220" r="2157" b="3023"/>
          <a:stretch>
            <a:fillRect/>
          </a:stretch>
        </p:blipFill>
        <p:spPr>
          <a:xfrm>
            <a:off x="6780623" y="4473677"/>
            <a:ext cx="4837472" cy="1720647"/>
          </a:xfrm>
          <a:prstGeom prst="rect">
            <a:avLst/>
          </a:prstGeom>
        </p:spPr>
      </p:pic>
      <p:pic>
        <p:nvPicPr>
          <p:cNvPr id="9" name="Picture 8">
            <a:extLst>
              <a:ext uri="{FF2B5EF4-FFF2-40B4-BE49-F238E27FC236}">
                <a16:creationId xmlns:a16="http://schemas.microsoft.com/office/drawing/2014/main" id="{F3F41546-9EF0-C01A-7C63-F983FD7206C3}"/>
              </a:ext>
            </a:extLst>
          </p:cNvPr>
          <p:cNvPicPr>
            <a:picLocks noChangeAspect="1"/>
          </p:cNvPicPr>
          <p:nvPr/>
        </p:nvPicPr>
        <p:blipFill>
          <a:blip r:embed="rId3"/>
          <a:srcRect l="2945" t="4007" r="1783" b="2946"/>
          <a:stretch>
            <a:fillRect/>
          </a:stretch>
        </p:blipFill>
        <p:spPr>
          <a:xfrm>
            <a:off x="1258528" y="4473676"/>
            <a:ext cx="5260259" cy="1720648"/>
          </a:xfrm>
          <a:prstGeom prst="rect">
            <a:avLst/>
          </a:prstGeom>
        </p:spPr>
      </p:pic>
      <p:pic>
        <p:nvPicPr>
          <p:cNvPr id="13" name="Picture 12">
            <a:extLst>
              <a:ext uri="{FF2B5EF4-FFF2-40B4-BE49-F238E27FC236}">
                <a16:creationId xmlns:a16="http://schemas.microsoft.com/office/drawing/2014/main" id="{C145CC6E-2E90-E79E-E07D-1EC87EC4B7F7}"/>
              </a:ext>
            </a:extLst>
          </p:cNvPr>
          <p:cNvPicPr>
            <a:picLocks noChangeAspect="1"/>
          </p:cNvPicPr>
          <p:nvPr/>
        </p:nvPicPr>
        <p:blipFill>
          <a:blip r:embed="rId4"/>
          <a:srcRect l="5057" t="6194" r="2783" b="4482"/>
          <a:stretch>
            <a:fillRect/>
          </a:stretch>
        </p:blipFill>
        <p:spPr>
          <a:xfrm>
            <a:off x="6764594" y="2465437"/>
            <a:ext cx="4837472" cy="1720647"/>
          </a:xfrm>
          <a:prstGeom prst="rect">
            <a:avLst/>
          </a:prstGeom>
        </p:spPr>
      </p:pic>
      <p:pic>
        <p:nvPicPr>
          <p:cNvPr id="15" name="Picture 14">
            <a:extLst>
              <a:ext uri="{FF2B5EF4-FFF2-40B4-BE49-F238E27FC236}">
                <a16:creationId xmlns:a16="http://schemas.microsoft.com/office/drawing/2014/main" id="{F8D005D2-647D-C91E-3C65-C21F5ADF5C69}"/>
              </a:ext>
            </a:extLst>
          </p:cNvPr>
          <p:cNvPicPr>
            <a:picLocks noChangeAspect="1"/>
          </p:cNvPicPr>
          <p:nvPr/>
        </p:nvPicPr>
        <p:blipFill>
          <a:blip r:embed="rId5"/>
          <a:srcRect l="2806" t="7345" r="3119" b="4679"/>
          <a:stretch>
            <a:fillRect/>
          </a:stretch>
        </p:blipFill>
        <p:spPr>
          <a:xfrm>
            <a:off x="6780623" y="344128"/>
            <a:ext cx="4821443" cy="1833716"/>
          </a:xfrm>
          <a:prstGeom prst="rect">
            <a:avLst/>
          </a:prstGeom>
        </p:spPr>
      </p:pic>
      <p:pic>
        <p:nvPicPr>
          <p:cNvPr id="17" name="Picture 16">
            <a:extLst>
              <a:ext uri="{FF2B5EF4-FFF2-40B4-BE49-F238E27FC236}">
                <a16:creationId xmlns:a16="http://schemas.microsoft.com/office/drawing/2014/main" id="{4B3C4B3F-4744-AD2D-51DA-79342D2925D4}"/>
              </a:ext>
            </a:extLst>
          </p:cNvPr>
          <p:cNvPicPr>
            <a:picLocks noChangeAspect="1"/>
          </p:cNvPicPr>
          <p:nvPr/>
        </p:nvPicPr>
        <p:blipFill>
          <a:blip r:embed="rId6"/>
          <a:srcRect l="2001" t="4434" r="1876" b="4538"/>
          <a:stretch>
            <a:fillRect/>
          </a:stretch>
        </p:blipFill>
        <p:spPr>
          <a:xfrm>
            <a:off x="1258528" y="2465437"/>
            <a:ext cx="5260259" cy="1679797"/>
          </a:xfrm>
          <a:prstGeom prst="rect">
            <a:avLst/>
          </a:prstGeom>
        </p:spPr>
      </p:pic>
      <p:sp>
        <p:nvSpPr>
          <p:cNvPr id="18" name="TextBox 17">
            <a:extLst>
              <a:ext uri="{FF2B5EF4-FFF2-40B4-BE49-F238E27FC236}">
                <a16:creationId xmlns:a16="http://schemas.microsoft.com/office/drawing/2014/main" id="{7CD8F49D-2655-30A3-8119-64D3705F56F8}"/>
              </a:ext>
            </a:extLst>
          </p:cNvPr>
          <p:cNvSpPr txBox="1"/>
          <p:nvPr/>
        </p:nvSpPr>
        <p:spPr>
          <a:xfrm>
            <a:off x="1258527" y="344128"/>
            <a:ext cx="5260259" cy="1754326"/>
          </a:xfrm>
          <a:prstGeom prst="rect">
            <a:avLst/>
          </a:prstGeom>
          <a:noFill/>
        </p:spPr>
        <p:txBody>
          <a:bodyPr wrap="square" rtlCol="0">
            <a:spAutoFit/>
          </a:bodyPr>
          <a:lstStyle/>
          <a:p>
            <a:r>
              <a:rPr lang="en-IN" b="1" dirty="0"/>
              <a:t>My Observation:</a:t>
            </a:r>
          </a:p>
          <a:p>
            <a:r>
              <a:rPr lang="en-IN" dirty="0"/>
              <a:t>Here from the below images I can get to know that Wednesday has poor engagement from the viewers (Views, Shares, Comments)</a:t>
            </a:r>
          </a:p>
          <a:p>
            <a:r>
              <a:rPr lang="en-IN" dirty="0"/>
              <a:t>    And also Fall has lower viewership when compared to the other seasons. </a:t>
            </a:r>
          </a:p>
        </p:txBody>
      </p:sp>
    </p:spTree>
    <p:extLst>
      <p:ext uri="{BB962C8B-B14F-4D97-AF65-F5344CB8AC3E}">
        <p14:creationId xmlns:p14="http://schemas.microsoft.com/office/powerpoint/2010/main" val="1329359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7017CB-5D5B-B1C8-51AD-A0E1E6CCAB2E}"/>
              </a:ext>
            </a:extLst>
          </p:cNvPr>
          <p:cNvSpPr txBox="1"/>
          <p:nvPr/>
        </p:nvSpPr>
        <p:spPr>
          <a:xfrm>
            <a:off x="1347019" y="384758"/>
            <a:ext cx="7492180" cy="369332"/>
          </a:xfrm>
          <a:prstGeom prst="rect">
            <a:avLst/>
          </a:prstGeom>
          <a:noFill/>
        </p:spPr>
        <p:txBody>
          <a:bodyPr wrap="square">
            <a:spAutoFit/>
          </a:bodyPr>
          <a:lstStyle/>
          <a:p>
            <a:pPr algn="l" rtl="0" fontAlgn="base"/>
            <a:r>
              <a:rPr lang="en-US" b="1" i="1" dirty="0">
                <a:solidFill>
                  <a:srgbClr val="000000"/>
                </a:solidFill>
                <a:latin typeface="Sitka Display Semibold" pitchFamily="2" charset="0"/>
              </a:rPr>
              <a:t>Is content released on weekends performing better than weekdays?​</a:t>
            </a:r>
          </a:p>
        </p:txBody>
      </p:sp>
      <p:sp>
        <p:nvSpPr>
          <p:cNvPr id="4" name="Arrow: Right 3">
            <a:extLst>
              <a:ext uri="{FF2B5EF4-FFF2-40B4-BE49-F238E27FC236}">
                <a16:creationId xmlns:a16="http://schemas.microsoft.com/office/drawing/2014/main" id="{B78254FB-3F20-83E0-069D-15B227488072}"/>
              </a:ext>
            </a:extLst>
          </p:cNvPr>
          <p:cNvSpPr/>
          <p:nvPr/>
        </p:nvSpPr>
        <p:spPr>
          <a:xfrm>
            <a:off x="521110" y="481781"/>
            <a:ext cx="668592" cy="1966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BABE819-14F6-C311-5B2F-98C697A6980D}"/>
              </a:ext>
            </a:extLst>
          </p:cNvPr>
          <p:cNvSpPr txBox="1"/>
          <p:nvPr/>
        </p:nvSpPr>
        <p:spPr>
          <a:xfrm>
            <a:off x="973394" y="983226"/>
            <a:ext cx="10166554" cy="646331"/>
          </a:xfrm>
          <a:prstGeom prst="rect">
            <a:avLst/>
          </a:prstGeom>
          <a:noFill/>
        </p:spPr>
        <p:txBody>
          <a:bodyPr wrap="square" rtlCol="0">
            <a:spAutoFit/>
          </a:bodyPr>
          <a:lstStyle/>
          <a:p>
            <a:r>
              <a:rPr lang="en-US" dirty="0"/>
              <a:t>We did not observe any significant impact of release day on performance. In fact, some content released on weekdays performed just as well as, or even better than, weekend releases.</a:t>
            </a:r>
            <a:endParaRPr lang="en-IN" dirty="0"/>
          </a:p>
        </p:txBody>
      </p:sp>
      <p:pic>
        <p:nvPicPr>
          <p:cNvPr id="7" name="Picture 6">
            <a:extLst>
              <a:ext uri="{FF2B5EF4-FFF2-40B4-BE49-F238E27FC236}">
                <a16:creationId xmlns:a16="http://schemas.microsoft.com/office/drawing/2014/main" id="{EEA995CD-92EB-FE3F-3287-0CD8C4ED1494}"/>
              </a:ext>
            </a:extLst>
          </p:cNvPr>
          <p:cNvPicPr>
            <a:picLocks noChangeAspect="1"/>
          </p:cNvPicPr>
          <p:nvPr/>
        </p:nvPicPr>
        <p:blipFill>
          <a:blip r:embed="rId2"/>
          <a:srcRect l="3107" t="4421" r="2400" b="3356"/>
          <a:stretch>
            <a:fillRect/>
          </a:stretch>
        </p:blipFill>
        <p:spPr>
          <a:xfrm>
            <a:off x="855406" y="1858693"/>
            <a:ext cx="5132438" cy="2310580"/>
          </a:xfrm>
          <a:prstGeom prst="rect">
            <a:avLst/>
          </a:prstGeom>
        </p:spPr>
      </p:pic>
      <p:pic>
        <p:nvPicPr>
          <p:cNvPr id="9" name="Picture 8">
            <a:extLst>
              <a:ext uri="{FF2B5EF4-FFF2-40B4-BE49-F238E27FC236}">
                <a16:creationId xmlns:a16="http://schemas.microsoft.com/office/drawing/2014/main" id="{83F67532-1C64-1C0B-A826-D7EB70B6F78A}"/>
              </a:ext>
            </a:extLst>
          </p:cNvPr>
          <p:cNvPicPr>
            <a:picLocks noChangeAspect="1"/>
          </p:cNvPicPr>
          <p:nvPr/>
        </p:nvPicPr>
        <p:blipFill>
          <a:blip r:embed="rId3"/>
          <a:srcRect l="2839" t="5185" r="2592" b="4649"/>
          <a:stretch>
            <a:fillRect/>
          </a:stretch>
        </p:blipFill>
        <p:spPr>
          <a:xfrm>
            <a:off x="6558118" y="1858693"/>
            <a:ext cx="5132436" cy="2310580"/>
          </a:xfrm>
          <a:prstGeom prst="rect">
            <a:avLst/>
          </a:prstGeom>
        </p:spPr>
      </p:pic>
      <p:pic>
        <p:nvPicPr>
          <p:cNvPr id="13" name="Picture 12">
            <a:extLst>
              <a:ext uri="{FF2B5EF4-FFF2-40B4-BE49-F238E27FC236}">
                <a16:creationId xmlns:a16="http://schemas.microsoft.com/office/drawing/2014/main" id="{319A2830-8798-5E37-1F8C-399F7BEAEEE8}"/>
              </a:ext>
            </a:extLst>
          </p:cNvPr>
          <p:cNvPicPr>
            <a:picLocks noChangeAspect="1"/>
          </p:cNvPicPr>
          <p:nvPr/>
        </p:nvPicPr>
        <p:blipFill>
          <a:blip r:embed="rId4"/>
          <a:srcRect l="3999" t="4947" r="7502" b="6854"/>
          <a:stretch>
            <a:fillRect/>
          </a:stretch>
        </p:blipFill>
        <p:spPr>
          <a:xfrm>
            <a:off x="855406" y="4322069"/>
            <a:ext cx="5132438" cy="2310581"/>
          </a:xfrm>
          <a:prstGeom prst="rect">
            <a:avLst/>
          </a:prstGeom>
        </p:spPr>
      </p:pic>
      <p:pic>
        <p:nvPicPr>
          <p:cNvPr id="15" name="Picture 14">
            <a:extLst>
              <a:ext uri="{FF2B5EF4-FFF2-40B4-BE49-F238E27FC236}">
                <a16:creationId xmlns:a16="http://schemas.microsoft.com/office/drawing/2014/main" id="{2F6AE1DA-1E79-955B-CF7E-960631262397}"/>
              </a:ext>
            </a:extLst>
          </p:cNvPr>
          <p:cNvPicPr>
            <a:picLocks noChangeAspect="1"/>
          </p:cNvPicPr>
          <p:nvPr/>
        </p:nvPicPr>
        <p:blipFill>
          <a:blip r:embed="rId5"/>
          <a:srcRect l="4710" t="6309" r="6523" b="5811"/>
          <a:stretch>
            <a:fillRect/>
          </a:stretch>
        </p:blipFill>
        <p:spPr>
          <a:xfrm>
            <a:off x="6558117" y="4322069"/>
            <a:ext cx="5132435" cy="2310581"/>
          </a:xfrm>
          <a:prstGeom prst="rect">
            <a:avLst/>
          </a:prstGeom>
        </p:spPr>
      </p:pic>
    </p:spTree>
    <p:extLst>
      <p:ext uri="{BB962C8B-B14F-4D97-AF65-F5344CB8AC3E}">
        <p14:creationId xmlns:p14="http://schemas.microsoft.com/office/powerpoint/2010/main" val="3349970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77DA31-0462-262C-6F0F-1F623960238B}"/>
              </a:ext>
            </a:extLst>
          </p:cNvPr>
          <p:cNvSpPr txBox="1"/>
          <p:nvPr/>
        </p:nvSpPr>
        <p:spPr>
          <a:xfrm>
            <a:off x="1465005" y="375773"/>
            <a:ext cx="6479459" cy="369332"/>
          </a:xfrm>
          <a:prstGeom prst="rect">
            <a:avLst/>
          </a:prstGeom>
          <a:noFill/>
        </p:spPr>
        <p:txBody>
          <a:bodyPr wrap="square">
            <a:spAutoFit/>
          </a:bodyPr>
          <a:lstStyle/>
          <a:p>
            <a:r>
              <a:rPr lang="en-US" b="1" i="1" dirty="0">
                <a:solidFill>
                  <a:srgbClr val="000000"/>
                </a:solidFill>
                <a:latin typeface="Sitka Display Semibold" pitchFamily="2" charset="0"/>
              </a:rPr>
              <a:t>Why did engagement drop in a specific region or age group?</a:t>
            </a:r>
            <a:endParaRPr lang="en-IN" b="1" i="1" dirty="0">
              <a:solidFill>
                <a:srgbClr val="000000"/>
              </a:solidFill>
              <a:latin typeface="Sitka Display Semibold" pitchFamily="2" charset="0"/>
            </a:endParaRPr>
          </a:p>
        </p:txBody>
      </p:sp>
      <p:sp>
        <p:nvSpPr>
          <p:cNvPr id="4" name="Arrow: Right 3">
            <a:extLst>
              <a:ext uri="{FF2B5EF4-FFF2-40B4-BE49-F238E27FC236}">
                <a16:creationId xmlns:a16="http://schemas.microsoft.com/office/drawing/2014/main" id="{A8F5AE53-0544-24DF-6129-3311D8EACBF7}"/>
              </a:ext>
            </a:extLst>
          </p:cNvPr>
          <p:cNvSpPr/>
          <p:nvPr/>
        </p:nvSpPr>
        <p:spPr>
          <a:xfrm>
            <a:off x="609599" y="516193"/>
            <a:ext cx="707923" cy="1130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BE2F28FC-D5B5-27E9-CE80-B97E379FA0E8}"/>
              </a:ext>
            </a:extLst>
          </p:cNvPr>
          <p:cNvPicPr>
            <a:picLocks noChangeAspect="1"/>
          </p:cNvPicPr>
          <p:nvPr/>
        </p:nvPicPr>
        <p:blipFill>
          <a:blip r:embed="rId2"/>
          <a:srcRect l="4633" t="4542" r="4510" b="2728"/>
          <a:stretch>
            <a:fillRect/>
          </a:stretch>
        </p:blipFill>
        <p:spPr>
          <a:xfrm>
            <a:off x="786581" y="3795252"/>
            <a:ext cx="3470787" cy="2261420"/>
          </a:xfrm>
          <a:prstGeom prst="rect">
            <a:avLst/>
          </a:prstGeom>
        </p:spPr>
      </p:pic>
      <p:pic>
        <p:nvPicPr>
          <p:cNvPr id="8" name="Picture 7">
            <a:extLst>
              <a:ext uri="{FF2B5EF4-FFF2-40B4-BE49-F238E27FC236}">
                <a16:creationId xmlns:a16="http://schemas.microsoft.com/office/drawing/2014/main" id="{83C5C068-E880-A730-247C-77895AFB5F03}"/>
              </a:ext>
            </a:extLst>
          </p:cNvPr>
          <p:cNvPicPr>
            <a:picLocks noChangeAspect="1"/>
          </p:cNvPicPr>
          <p:nvPr/>
        </p:nvPicPr>
        <p:blipFill>
          <a:blip r:embed="rId3"/>
          <a:srcRect l="5036" t="6031" r="2993" b="5392"/>
          <a:stretch>
            <a:fillRect/>
          </a:stretch>
        </p:blipFill>
        <p:spPr>
          <a:xfrm>
            <a:off x="4621162" y="3795252"/>
            <a:ext cx="3539613" cy="2261420"/>
          </a:xfrm>
          <a:prstGeom prst="rect">
            <a:avLst/>
          </a:prstGeom>
        </p:spPr>
      </p:pic>
      <p:pic>
        <p:nvPicPr>
          <p:cNvPr id="10" name="Picture 9">
            <a:extLst>
              <a:ext uri="{FF2B5EF4-FFF2-40B4-BE49-F238E27FC236}">
                <a16:creationId xmlns:a16="http://schemas.microsoft.com/office/drawing/2014/main" id="{311CF737-2917-5263-388B-5086160E0F07}"/>
              </a:ext>
            </a:extLst>
          </p:cNvPr>
          <p:cNvPicPr>
            <a:picLocks noChangeAspect="1"/>
          </p:cNvPicPr>
          <p:nvPr/>
        </p:nvPicPr>
        <p:blipFill>
          <a:blip r:embed="rId4"/>
          <a:srcRect l="5733" t="5044" r="10703" b="13379"/>
          <a:stretch>
            <a:fillRect/>
          </a:stretch>
        </p:blipFill>
        <p:spPr>
          <a:xfrm>
            <a:off x="8524569" y="3795252"/>
            <a:ext cx="3470787" cy="2261420"/>
          </a:xfrm>
          <a:prstGeom prst="rect">
            <a:avLst/>
          </a:prstGeom>
        </p:spPr>
      </p:pic>
      <p:pic>
        <p:nvPicPr>
          <p:cNvPr id="12" name="Picture 11">
            <a:extLst>
              <a:ext uri="{FF2B5EF4-FFF2-40B4-BE49-F238E27FC236}">
                <a16:creationId xmlns:a16="http://schemas.microsoft.com/office/drawing/2014/main" id="{83385608-A1F8-3B5B-0945-78C7BE6FD5D4}"/>
              </a:ext>
            </a:extLst>
          </p:cNvPr>
          <p:cNvPicPr>
            <a:picLocks noChangeAspect="1"/>
          </p:cNvPicPr>
          <p:nvPr/>
        </p:nvPicPr>
        <p:blipFill>
          <a:blip r:embed="rId5"/>
          <a:srcRect l="5114" t="6163" r="5368" b="4929"/>
          <a:stretch>
            <a:fillRect/>
          </a:stretch>
        </p:blipFill>
        <p:spPr>
          <a:xfrm>
            <a:off x="8337754" y="1167579"/>
            <a:ext cx="3470787" cy="2261421"/>
          </a:xfrm>
          <a:prstGeom prst="rect">
            <a:avLst/>
          </a:prstGeom>
        </p:spPr>
      </p:pic>
      <p:sp>
        <p:nvSpPr>
          <p:cNvPr id="13" name="TextBox 12">
            <a:extLst>
              <a:ext uri="{FF2B5EF4-FFF2-40B4-BE49-F238E27FC236}">
                <a16:creationId xmlns:a16="http://schemas.microsoft.com/office/drawing/2014/main" id="{3C5FAB24-C599-15FD-7BA5-029D879F5926}"/>
              </a:ext>
            </a:extLst>
          </p:cNvPr>
          <p:cNvSpPr txBox="1"/>
          <p:nvPr/>
        </p:nvSpPr>
        <p:spPr>
          <a:xfrm>
            <a:off x="875071" y="1283419"/>
            <a:ext cx="6636774" cy="1477328"/>
          </a:xfrm>
          <a:prstGeom prst="rect">
            <a:avLst/>
          </a:prstGeom>
          <a:noFill/>
        </p:spPr>
        <p:txBody>
          <a:bodyPr wrap="square" rtlCol="0">
            <a:spAutoFit/>
          </a:bodyPr>
          <a:lstStyle/>
          <a:p>
            <a:pPr marL="285750" indent="-285750">
              <a:buFont typeface="Wingdings" panose="05000000000000000000" pitchFamily="2" charset="2"/>
              <a:buChar char="§"/>
            </a:pPr>
            <a:r>
              <a:rPr lang="en-IN" dirty="0"/>
              <a:t>From this graphs we can get to know that there is a significant dip in the engagement of the viewers(Views, Comments, Likes).</a:t>
            </a:r>
          </a:p>
          <a:p>
            <a:pPr marL="285750" indent="-285750">
              <a:buFont typeface="Wingdings" panose="05000000000000000000" pitchFamily="2" charset="2"/>
              <a:buChar char="§"/>
            </a:pPr>
            <a:r>
              <a:rPr lang="en-IN" dirty="0"/>
              <a:t>This graph the covers engagement of the viewers in 3 months in 4 ways.</a:t>
            </a:r>
          </a:p>
          <a:p>
            <a:pPr marL="285750" indent="-285750">
              <a:buFont typeface="Wingdings" panose="05000000000000000000" pitchFamily="2" charset="2"/>
              <a:buChar char="§"/>
            </a:pPr>
            <a:r>
              <a:rPr lang="en-IN" dirty="0"/>
              <a:t>Except in Shares There is a dip in other engagement ways.</a:t>
            </a:r>
          </a:p>
        </p:txBody>
      </p:sp>
    </p:spTree>
    <p:extLst>
      <p:ext uri="{BB962C8B-B14F-4D97-AF65-F5344CB8AC3E}">
        <p14:creationId xmlns:p14="http://schemas.microsoft.com/office/powerpoint/2010/main" val="1260224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A6E494-2146-D4F1-2E37-1BFB3E05BD5C}"/>
              </a:ext>
            </a:extLst>
          </p:cNvPr>
          <p:cNvPicPr>
            <a:picLocks noChangeAspect="1"/>
          </p:cNvPicPr>
          <p:nvPr/>
        </p:nvPicPr>
        <p:blipFill>
          <a:blip r:embed="rId2"/>
          <a:srcRect l="2378" t="2788" r="2378" b="5716"/>
          <a:stretch>
            <a:fillRect/>
          </a:stretch>
        </p:blipFill>
        <p:spPr>
          <a:xfrm>
            <a:off x="6096000" y="1602659"/>
            <a:ext cx="5378245" cy="4454014"/>
          </a:xfrm>
          <a:prstGeom prst="rect">
            <a:avLst/>
          </a:prstGeom>
        </p:spPr>
      </p:pic>
      <p:pic>
        <p:nvPicPr>
          <p:cNvPr id="5" name="Picture 4">
            <a:extLst>
              <a:ext uri="{FF2B5EF4-FFF2-40B4-BE49-F238E27FC236}">
                <a16:creationId xmlns:a16="http://schemas.microsoft.com/office/drawing/2014/main" id="{4A07E74F-20F9-8945-E717-879331EBB3E5}"/>
              </a:ext>
            </a:extLst>
          </p:cNvPr>
          <p:cNvPicPr>
            <a:picLocks noChangeAspect="1"/>
          </p:cNvPicPr>
          <p:nvPr/>
        </p:nvPicPr>
        <p:blipFill>
          <a:blip r:embed="rId3"/>
          <a:srcRect l="2538" t="3441" r="4826" b="3868"/>
          <a:stretch>
            <a:fillRect/>
          </a:stretch>
        </p:blipFill>
        <p:spPr>
          <a:xfrm>
            <a:off x="825909" y="1602660"/>
            <a:ext cx="5083277" cy="4454014"/>
          </a:xfrm>
          <a:prstGeom prst="rect">
            <a:avLst/>
          </a:prstGeom>
        </p:spPr>
      </p:pic>
      <p:sp>
        <p:nvSpPr>
          <p:cNvPr id="6" name="TextBox 5">
            <a:extLst>
              <a:ext uri="{FF2B5EF4-FFF2-40B4-BE49-F238E27FC236}">
                <a16:creationId xmlns:a16="http://schemas.microsoft.com/office/drawing/2014/main" id="{6EFB0C27-52AD-FE1F-2647-0D9F46A4C621}"/>
              </a:ext>
            </a:extLst>
          </p:cNvPr>
          <p:cNvSpPr txBox="1"/>
          <p:nvPr/>
        </p:nvSpPr>
        <p:spPr>
          <a:xfrm>
            <a:off x="717755" y="501445"/>
            <a:ext cx="10756490" cy="646331"/>
          </a:xfrm>
          <a:prstGeom prst="rect">
            <a:avLst/>
          </a:prstGeom>
          <a:noFill/>
        </p:spPr>
        <p:txBody>
          <a:bodyPr wrap="square" rtlCol="0">
            <a:spAutoFit/>
          </a:bodyPr>
          <a:lstStyle/>
          <a:p>
            <a:r>
              <a:rPr lang="en-IN" dirty="0"/>
              <a:t>Here from the below the graphs we can get to know there is a significant dip of the views from the month July to month September and from some locations also.</a:t>
            </a:r>
          </a:p>
        </p:txBody>
      </p:sp>
    </p:spTree>
    <p:extLst>
      <p:ext uri="{BB962C8B-B14F-4D97-AF65-F5344CB8AC3E}">
        <p14:creationId xmlns:p14="http://schemas.microsoft.com/office/powerpoint/2010/main" val="384259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C000">
            <a:alpha val="34000"/>
          </a:srgb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D2384-0615-AC36-7459-D71ED24F6974}"/>
              </a:ext>
            </a:extLst>
          </p:cNvPr>
          <p:cNvPicPr>
            <a:picLocks noChangeAspect="1"/>
          </p:cNvPicPr>
          <p:nvPr/>
        </p:nvPicPr>
        <p:blipFill>
          <a:blip r:embed="rId2"/>
          <a:srcRect l="4563" t="8098" r="3359" b="4218"/>
          <a:stretch>
            <a:fillRect/>
          </a:stretch>
        </p:blipFill>
        <p:spPr>
          <a:xfrm>
            <a:off x="609598" y="2113934"/>
            <a:ext cx="3008672" cy="1887795"/>
          </a:xfrm>
          <a:prstGeom prst="rect">
            <a:avLst/>
          </a:prstGeom>
        </p:spPr>
      </p:pic>
      <p:pic>
        <p:nvPicPr>
          <p:cNvPr id="5" name="Picture 4">
            <a:extLst>
              <a:ext uri="{FF2B5EF4-FFF2-40B4-BE49-F238E27FC236}">
                <a16:creationId xmlns:a16="http://schemas.microsoft.com/office/drawing/2014/main" id="{61BEE42C-36F3-9569-947E-B0F675D0ABA7}"/>
              </a:ext>
            </a:extLst>
          </p:cNvPr>
          <p:cNvPicPr>
            <a:picLocks noChangeAspect="1"/>
          </p:cNvPicPr>
          <p:nvPr/>
        </p:nvPicPr>
        <p:blipFill>
          <a:blip r:embed="rId3"/>
          <a:srcRect l="4772" t="6444" r="4213" b="5340"/>
          <a:stretch>
            <a:fillRect/>
          </a:stretch>
        </p:blipFill>
        <p:spPr>
          <a:xfrm>
            <a:off x="4591664" y="2074605"/>
            <a:ext cx="3008672" cy="1966452"/>
          </a:xfrm>
          <a:prstGeom prst="rect">
            <a:avLst/>
          </a:prstGeom>
        </p:spPr>
      </p:pic>
      <p:pic>
        <p:nvPicPr>
          <p:cNvPr id="7" name="Picture 6">
            <a:extLst>
              <a:ext uri="{FF2B5EF4-FFF2-40B4-BE49-F238E27FC236}">
                <a16:creationId xmlns:a16="http://schemas.microsoft.com/office/drawing/2014/main" id="{5328CEF6-4A2D-1A86-259D-56CF8A1E66C9}"/>
              </a:ext>
            </a:extLst>
          </p:cNvPr>
          <p:cNvPicPr>
            <a:picLocks noChangeAspect="1"/>
          </p:cNvPicPr>
          <p:nvPr/>
        </p:nvPicPr>
        <p:blipFill>
          <a:blip r:embed="rId4"/>
          <a:srcRect l="5165" t="7530" r="2758" b="7419"/>
          <a:stretch>
            <a:fillRect/>
          </a:stretch>
        </p:blipFill>
        <p:spPr>
          <a:xfrm>
            <a:off x="8573730" y="2088281"/>
            <a:ext cx="3008672" cy="1887795"/>
          </a:xfrm>
          <a:prstGeom prst="rect">
            <a:avLst/>
          </a:prstGeom>
        </p:spPr>
      </p:pic>
      <p:sp>
        <p:nvSpPr>
          <p:cNvPr id="9" name="TextBox 8">
            <a:extLst>
              <a:ext uri="{FF2B5EF4-FFF2-40B4-BE49-F238E27FC236}">
                <a16:creationId xmlns:a16="http://schemas.microsoft.com/office/drawing/2014/main" id="{2D3F09F7-518E-EFD0-54E4-645E0917B4FC}"/>
              </a:ext>
            </a:extLst>
          </p:cNvPr>
          <p:cNvSpPr txBox="1"/>
          <p:nvPr/>
        </p:nvSpPr>
        <p:spPr>
          <a:xfrm>
            <a:off x="776748" y="503593"/>
            <a:ext cx="3814916" cy="461665"/>
          </a:xfrm>
          <a:prstGeom prst="rect">
            <a:avLst/>
          </a:prstGeom>
          <a:noFill/>
        </p:spPr>
        <p:txBody>
          <a:bodyPr wrap="square">
            <a:spAutoFit/>
          </a:bodyPr>
          <a:lstStyle/>
          <a:p>
            <a:r>
              <a:rPr lang="en-IN" sz="2400" b="1" u="sng" dirty="0">
                <a:solidFill>
                  <a:schemeClr val="accent5">
                    <a:lumMod val="50000"/>
                  </a:schemeClr>
                </a:solidFill>
                <a:latin typeface="Mongolian Baiti" panose="03000500000000000000" pitchFamily="66" charset="0"/>
                <a:cs typeface="Mongolian Baiti" panose="03000500000000000000" pitchFamily="66" charset="0"/>
              </a:rPr>
              <a:t>My Observation:</a:t>
            </a:r>
          </a:p>
        </p:txBody>
      </p:sp>
      <p:sp>
        <p:nvSpPr>
          <p:cNvPr id="11" name="TextBox 10">
            <a:extLst>
              <a:ext uri="{FF2B5EF4-FFF2-40B4-BE49-F238E27FC236}">
                <a16:creationId xmlns:a16="http://schemas.microsoft.com/office/drawing/2014/main" id="{7AFB4E17-A55C-0B2E-F6D6-C6B322F33D19}"/>
              </a:ext>
            </a:extLst>
          </p:cNvPr>
          <p:cNvSpPr txBox="1"/>
          <p:nvPr/>
        </p:nvSpPr>
        <p:spPr>
          <a:xfrm>
            <a:off x="776748" y="1317523"/>
            <a:ext cx="10648336" cy="369332"/>
          </a:xfrm>
          <a:prstGeom prst="rect">
            <a:avLst/>
          </a:prstGeom>
          <a:noFill/>
        </p:spPr>
        <p:txBody>
          <a:bodyPr wrap="square" rtlCol="0">
            <a:spAutoFit/>
          </a:bodyPr>
          <a:lstStyle/>
          <a:p>
            <a:r>
              <a:rPr lang="en-IN" dirty="0"/>
              <a:t>Here there is a significant difference in the viewership among 3 months. </a:t>
            </a:r>
          </a:p>
        </p:txBody>
      </p:sp>
    </p:spTree>
    <p:extLst>
      <p:ext uri="{BB962C8B-B14F-4D97-AF65-F5344CB8AC3E}">
        <p14:creationId xmlns:p14="http://schemas.microsoft.com/office/powerpoint/2010/main" val="10598836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461</TotalTime>
  <Words>1291</Words>
  <Application>Microsoft Office PowerPoint</Application>
  <PresentationFormat>Widescreen</PresentationFormat>
  <Paragraphs>137</Paragraphs>
  <Slides>20</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20</vt:i4>
      </vt:variant>
    </vt:vector>
  </HeadingPairs>
  <TitlesOfParts>
    <vt:vector size="32" baseType="lpstr">
      <vt:lpstr>Alike Bold</vt:lpstr>
      <vt:lpstr>Aptos</vt:lpstr>
      <vt:lpstr>Arial</vt:lpstr>
      <vt:lpstr>Calibri</vt:lpstr>
      <vt:lpstr>Calibri Light</vt:lpstr>
      <vt:lpstr>Cambria</vt:lpstr>
      <vt:lpstr>Cy Grotesk Key Bold</vt:lpstr>
      <vt:lpstr>Mongolian Baiti</vt:lpstr>
      <vt:lpstr>Sitka Display Semibold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Akhil Kottakota</dc:creator>
  <cp:lastModifiedBy>Akhil Kottakota</cp:lastModifiedBy>
  <cp:revision>2</cp:revision>
  <dcterms:created xsi:type="dcterms:W3CDTF">2026-02-21T04:06:33Z</dcterms:created>
  <dcterms:modified xsi:type="dcterms:W3CDTF">2026-04-06T16:24:39Z</dcterms:modified>
</cp:coreProperties>
</file>